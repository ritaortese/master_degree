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8" r:id="rId3"/>
    <p:sldId id="257" r:id="rId4"/>
    <p:sldId id="260" r:id="rId5"/>
    <p:sldId id="261" r:id="rId6"/>
    <p:sldId id="259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5A0F1C-1251-486A-93E3-D57210000136}" v="31" dt="2025-01-12T11:36:25.6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048AC-255B-43C7-BD19-683081EB7723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AC61BE-320E-4021-9C8F-2B628BCE6330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09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30D7-7312-4F3B-9AF9-37004DDE68C3}" type="datetime1">
              <a:rPr lang="it-IT" smtClean="0"/>
              <a:t>24/12/2025</a:t>
            </a:fld>
            <a:endParaRPr lang="it-I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02748-BC04-47B8-A904-318A1CCBC031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76116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7CDA7-7F07-4FA5-9ABB-583325D00D99}" type="datetime1">
              <a:rPr lang="it-IT" smtClean="0"/>
              <a:t>24/12/2025</a:t>
            </a:fld>
            <a:endParaRPr lang="it-I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02748-BC04-47B8-A904-318A1CCBC031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74315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35571-3916-4BE4-AD87-D7A75C66374F}" type="datetime1">
              <a:rPr lang="it-IT" smtClean="0"/>
              <a:t>24/12/2025</a:t>
            </a:fld>
            <a:endParaRPr lang="it-I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02748-BC04-47B8-A904-318A1CCBC031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61036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729C2-CEA9-4FCB-9D28-D33E4B87DA98}" type="datetime1">
              <a:rPr lang="it-IT" smtClean="0"/>
              <a:t>24/12/2025</a:t>
            </a:fld>
            <a:endParaRPr lang="it-IT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02748-BC04-47B8-A904-318A1CCBC031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60599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9C85B-6537-4F1C-AC4D-4A2BDD3CCD9B}" type="datetime1">
              <a:rPr lang="it-IT" smtClean="0"/>
              <a:t>24/12/2025</a:t>
            </a:fld>
            <a:endParaRPr lang="it-IT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02748-BC04-47B8-A904-318A1CCBC031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14363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C70C3-0FBF-4F76-98B1-C60CAE262804}" type="datetime1">
              <a:rPr lang="it-IT" smtClean="0"/>
              <a:t>24/12/2025</a:t>
            </a:fld>
            <a:endParaRPr lang="it-IT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02748-BC04-47B8-A904-318A1CCBC031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00663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44C05-0B96-42D6-9222-D902ECE2D012}" type="datetime1">
              <a:rPr lang="it-IT" smtClean="0"/>
              <a:t>24/12/2025</a:t>
            </a:fld>
            <a:endParaRPr lang="it-IT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02748-BC04-47B8-A904-318A1CCBC031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18859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8DA4E-65FD-4B5E-8CC6-B55DCD8537C5}" type="datetime1">
              <a:rPr lang="it-IT" smtClean="0"/>
              <a:t>24/12/2025</a:t>
            </a:fld>
            <a:endParaRPr lang="it-IT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02748-BC04-47B8-A904-318A1CCBC031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65339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C846-1CAA-47DD-8F01-607165377203}" type="datetime1">
              <a:rPr lang="it-IT" smtClean="0"/>
              <a:t>24/12/2025</a:t>
            </a:fld>
            <a:endParaRPr lang="it-IT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02748-BC04-47B8-A904-318A1CCBC031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39737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A6132-9B4C-4040-88BC-5E3258B1D18B}" type="datetime1">
              <a:rPr lang="it-IT" smtClean="0"/>
              <a:t>24/12/2025</a:t>
            </a:fld>
            <a:endParaRPr lang="it-I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02748-BC04-47B8-A904-318A1CCBC031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92892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5699C-44D5-4960-972E-6D49BFBD19D7}" type="datetime1">
              <a:rPr lang="it-IT" smtClean="0"/>
              <a:t>24/12/2025</a:t>
            </a:fld>
            <a:endParaRPr lang="it-I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02748-BC04-47B8-A904-318A1CCBC031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03201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60C1D2-EB31-43E9-8C06-0DC66FE629D9}" type="datetime1">
              <a:rPr lang="it-IT" smtClean="0"/>
              <a:t>24/12/2025</a:t>
            </a:fld>
            <a:endParaRPr lang="it-I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102748-BC04-47B8-A904-318A1CCBC031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76865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DE146E3-E7EA-563F-3555-45A8CEC6F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Unsupervised</a:t>
            </a:r>
            <a:r>
              <a:rPr lang="it-IT" sz="4800" dirty="0">
                <a:solidFill>
                  <a:srgbClr val="FFFFFF"/>
                </a:solidFill>
              </a:rPr>
              <a:t> Learning 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9DCCA67-5907-98E3-DFD3-47905907EA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it-IT" dirty="0"/>
              <a:t>MANIFOLD SCULPTING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E69F366-EB6B-C3F4-FA3E-AD1CAEC0A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02748-BC04-47B8-A904-318A1CCBC031}" type="slidenum">
              <a:rPr lang="it-IT" smtClean="0"/>
              <a:t>1</a:t>
            </a:fld>
            <a:endParaRPr lang="it-IT" dirty="0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656C379E-ABFD-844F-443C-298506186D52}"/>
              </a:ext>
            </a:extLst>
          </p:cNvPr>
          <p:cNvSpPr/>
          <p:nvPr/>
        </p:nvSpPr>
        <p:spPr>
          <a:xfrm>
            <a:off x="10847727" y="6042313"/>
            <a:ext cx="777149" cy="6791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439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5F90294-E344-4108-64A2-4CD74EDEA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7" y="224577"/>
            <a:ext cx="4783697" cy="905893"/>
          </a:xfrm>
        </p:spPr>
        <p:txBody>
          <a:bodyPr anchor="b">
            <a:normAutofit fontScale="90000"/>
          </a:bodyPr>
          <a:lstStyle/>
          <a:p>
            <a:r>
              <a:rPr lang="it-IT" sz="6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The </a:t>
            </a:r>
            <a:r>
              <a:rPr lang="en-US" sz="6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method</a:t>
            </a:r>
            <a:r>
              <a:rPr lang="it-IT" sz="6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90E21CD-3EC5-6DD5-0567-B69E56138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6" y="1438122"/>
            <a:ext cx="4783697" cy="3981752"/>
          </a:xfrm>
        </p:spPr>
        <p:txBody>
          <a:bodyPr>
            <a:normAutofit/>
          </a:bodyPr>
          <a:lstStyle/>
          <a:p>
            <a:r>
              <a:rPr lang="it-IT" sz="2400" dirty="0"/>
              <a:t>Iterative Non-linear </a:t>
            </a:r>
            <a:r>
              <a:rPr lang="en-US" sz="2400" dirty="0"/>
              <a:t>dimensionality</a:t>
            </a:r>
            <a:r>
              <a:rPr lang="it-IT" sz="2400" dirty="0"/>
              <a:t> </a:t>
            </a:r>
            <a:r>
              <a:rPr lang="en-US" sz="2400" dirty="0"/>
              <a:t>reduction</a:t>
            </a:r>
          </a:p>
          <a:p>
            <a:r>
              <a:rPr lang="en-US" sz="2400" dirty="0"/>
              <a:t>Balance that preserves information in the transformation without losing it in the projection</a:t>
            </a:r>
            <a:endParaRPr lang="it-IT" sz="2400" dirty="0"/>
          </a:p>
          <a:p>
            <a:r>
              <a:rPr lang="en-US" sz="2400" dirty="0"/>
              <a:t>Process</a:t>
            </a:r>
            <a:r>
              <a:rPr lang="it-IT" sz="2400" dirty="0"/>
              <a:t> of progressive </a:t>
            </a:r>
            <a:r>
              <a:rPr lang="en-US" sz="2400" dirty="0"/>
              <a:t>refinement</a:t>
            </a:r>
            <a:r>
              <a:rPr lang="it-IT" sz="2400" dirty="0"/>
              <a:t>, </a:t>
            </a:r>
            <a:r>
              <a:rPr lang="en-US" sz="2400" dirty="0"/>
              <a:t>transforming</a:t>
            </a:r>
            <a:r>
              <a:rPr lang="it-IT" sz="2400" dirty="0"/>
              <a:t> data with 2 </a:t>
            </a:r>
            <a:r>
              <a:rPr lang="en-US" sz="2400" dirty="0"/>
              <a:t>heuristics</a:t>
            </a:r>
            <a:r>
              <a:rPr lang="it-IT" sz="2400" dirty="0"/>
              <a:t>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it-IT" sz="2000" dirty="0"/>
              <a:t>Scale information out of </a:t>
            </a:r>
            <a:r>
              <a:rPr lang="it-IT" sz="2000" dirty="0" err="1"/>
              <a:t>unwanted</a:t>
            </a:r>
            <a:r>
              <a:rPr lang="it-IT" sz="2000" dirty="0"/>
              <a:t> </a:t>
            </a:r>
            <a:r>
              <a:rPr lang="en-US" sz="2000" dirty="0"/>
              <a:t>dimension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/>
              <a:t>Preserve</a:t>
            </a:r>
            <a:r>
              <a:rPr lang="it-IT" sz="2000" dirty="0"/>
              <a:t> </a:t>
            </a:r>
            <a:r>
              <a:rPr lang="en-US" sz="2000" dirty="0"/>
              <a:t>local</a:t>
            </a:r>
            <a:r>
              <a:rPr lang="it-IT" sz="2000" dirty="0"/>
              <a:t> </a:t>
            </a:r>
            <a:r>
              <a:rPr lang="en-US" sz="2000" dirty="0"/>
              <a:t>structure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FB5F6993-83A6-816E-AC99-2AC4E69FB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427" y="677524"/>
            <a:ext cx="5365375" cy="5502949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5F576C7-6052-1C02-F95A-70A6D29BD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02748-BC04-47B8-A904-318A1CCBC031}" type="slidenum">
              <a:rPr lang="it-IT" smtClean="0"/>
              <a:t>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93104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24FD978-5C9C-5404-16A2-5AFB989C4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The 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Algorithm</a:t>
            </a:r>
            <a:r>
              <a:rPr lang="it-IT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63860B9-A539-27F6-45E8-40E7DFC28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Find</a:t>
            </a:r>
            <a:r>
              <a:rPr lang="it-IT" dirty="0"/>
              <a:t> the k </a:t>
            </a:r>
            <a:r>
              <a:rPr lang="en-US" dirty="0"/>
              <a:t>nearest</a:t>
            </a:r>
            <a:r>
              <a:rPr lang="it-IT" dirty="0"/>
              <a:t> </a:t>
            </a:r>
            <a:r>
              <a:rPr lang="en-US" dirty="0"/>
              <a:t>neighbors</a:t>
            </a:r>
            <a:r>
              <a:rPr lang="it-IT" dirty="0"/>
              <a:t> of </a:t>
            </a:r>
            <a:r>
              <a:rPr lang="en-US" dirty="0"/>
              <a:t>each</a:t>
            </a:r>
            <a:r>
              <a:rPr lang="it-IT" dirty="0"/>
              <a:t> point</a:t>
            </a:r>
          </a:p>
          <a:p>
            <a:r>
              <a:rPr lang="it-IT" dirty="0"/>
              <a:t>Compute </a:t>
            </a:r>
            <a:r>
              <a:rPr lang="en-US" dirty="0"/>
              <a:t>relationships</a:t>
            </a:r>
            <a:r>
              <a:rPr lang="it-IT" dirty="0"/>
              <a:t> </a:t>
            </a:r>
            <a:r>
              <a:rPr lang="en-US" dirty="0"/>
              <a:t>between</a:t>
            </a:r>
            <a:r>
              <a:rPr lang="it-IT" dirty="0"/>
              <a:t> </a:t>
            </a:r>
            <a:r>
              <a:rPr lang="en-US" dirty="0"/>
              <a:t>neighbors</a:t>
            </a:r>
            <a:r>
              <a:rPr lang="it-IT" dirty="0"/>
              <a:t>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Distance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Angle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Global average distance </a:t>
            </a:r>
            <a:r>
              <a:rPr lang="el-GR" dirty="0"/>
              <a:t>δ</a:t>
            </a:r>
            <a:r>
              <a:rPr lang="it-IT" baseline="-25000" dirty="0"/>
              <a:t>ave</a:t>
            </a:r>
            <a:endParaRPr lang="en-US" baseline="-25000" dirty="0"/>
          </a:p>
          <a:p>
            <a:r>
              <a:rPr lang="en-US" dirty="0"/>
              <a:t>PCA : compute first </a:t>
            </a:r>
            <a:r>
              <a:rPr lang="it-IT" dirty="0"/>
              <a:t>|D</a:t>
            </a:r>
            <a:r>
              <a:rPr lang="it-IT" baseline="-25000" dirty="0"/>
              <a:t>pres</a:t>
            </a:r>
            <a:r>
              <a:rPr lang="it-IT" dirty="0"/>
              <a:t>|</a:t>
            </a:r>
            <a:r>
              <a:rPr lang="en-US" dirty="0"/>
              <a:t> PC in the data and rotate </a:t>
            </a:r>
            <a:endParaRPr lang="it-IT" dirty="0"/>
          </a:p>
          <a:p>
            <a:r>
              <a:rPr lang="en-US" dirty="0"/>
              <a:t>Transform</a:t>
            </a:r>
            <a:r>
              <a:rPr lang="it-IT" dirty="0"/>
              <a:t> the </a:t>
            </a:r>
            <a:r>
              <a:rPr lang="en-US" dirty="0"/>
              <a:t>value</a:t>
            </a:r>
            <a:r>
              <a:rPr lang="it-IT" dirty="0"/>
              <a:t> </a:t>
            </a:r>
            <a:r>
              <a:rPr lang="en-US" dirty="0"/>
              <a:t>while</a:t>
            </a:r>
            <a:r>
              <a:rPr lang="it-IT" dirty="0"/>
              <a:t> the </a:t>
            </a:r>
            <a:r>
              <a:rPr lang="en-US" dirty="0"/>
              <a:t>stopping</a:t>
            </a:r>
            <a:r>
              <a:rPr lang="it-IT" dirty="0"/>
              <a:t> </a:t>
            </a:r>
            <a:r>
              <a:rPr lang="en-US" dirty="0"/>
              <a:t>criteria</a:t>
            </a:r>
            <a:r>
              <a:rPr lang="it-IT" dirty="0"/>
              <a:t> </a:t>
            </a:r>
            <a:r>
              <a:rPr lang="en-US" dirty="0"/>
              <a:t>has</a:t>
            </a:r>
            <a:r>
              <a:rPr lang="it-IT" dirty="0"/>
              <a:t> </a:t>
            </a:r>
            <a:r>
              <a:rPr lang="en-US" dirty="0"/>
              <a:t>not</a:t>
            </a:r>
            <a:r>
              <a:rPr lang="it-IT" dirty="0"/>
              <a:t> </a:t>
            </a:r>
            <a:r>
              <a:rPr lang="en-SG" dirty="0"/>
              <a:t>been</a:t>
            </a:r>
            <a:r>
              <a:rPr lang="it-IT" dirty="0"/>
              <a:t> </a:t>
            </a:r>
            <a:r>
              <a:rPr lang="en-US" dirty="0"/>
              <a:t>met</a:t>
            </a:r>
            <a:r>
              <a:rPr lang="it-IT" dirty="0"/>
              <a:t>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it-IT" dirty="0"/>
              <a:t>Scale the data in the non-</a:t>
            </a:r>
            <a:r>
              <a:rPr lang="en-US" dirty="0"/>
              <a:t>preserved</a:t>
            </a:r>
            <a:r>
              <a:rPr lang="it-IT" dirty="0"/>
              <a:t> </a:t>
            </a:r>
            <a:r>
              <a:rPr lang="en-US" dirty="0"/>
              <a:t>dimension </a:t>
            </a:r>
            <a:r>
              <a:rPr lang="it-IT" dirty="0"/>
              <a:t>|</a:t>
            </a:r>
            <a:r>
              <a:rPr lang="it-IT" dirty="0" err="1"/>
              <a:t>D</a:t>
            </a:r>
            <a:r>
              <a:rPr lang="it-IT" baseline="-25000" dirty="0" err="1"/>
              <a:t>scal</a:t>
            </a:r>
            <a:r>
              <a:rPr lang="it-IT" dirty="0"/>
              <a:t>|</a:t>
            </a:r>
            <a:r>
              <a:rPr lang="en-US" dirty="0"/>
              <a:t>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Restore</a:t>
            </a:r>
            <a:r>
              <a:rPr lang="it-IT" dirty="0"/>
              <a:t> </a:t>
            </a:r>
            <a:r>
              <a:rPr lang="en-US" dirty="0"/>
              <a:t>original</a:t>
            </a:r>
            <a:r>
              <a:rPr lang="it-IT" dirty="0"/>
              <a:t> </a:t>
            </a:r>
            <a:r>
              <a:rPr lang="en-US" dirty="0"/>
              <a:t>relationships</a:t>
            </a:r>
            <a:endParaRPr lang="it-IT" dirty="0"/>
          </a:p>
          <a:p>
            <a:r>
              <a:rPr lang="it-IT" dirty="0"/>
              <a:t>Project the data, by </a:t>
            </a:r>
            <a:r>
              <a:rPr lang="en-US" dirty="0"/>
              <a:t>dropping</a:t>
            </a:r>
            <a:r>
              <a:rPr lang="it-IT" dirty="0"/>
              <a:t> the </a:t>
            </a:r>
            <a:r>
              <a:rPr lang="en-US" dirty="0"/>
              <a:t>unwanted</a:t>
            </a:r>
            <a:r>
              <a:rPr lang="it-IT" dirty="0"/>
              <a:t> </a:t>
            </a:r>
            <a:r>
              <a:rPr lang="en-US" dirty="0"/>
              <a:t>dimensions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34B5420-598F-701A-6CDE-396041A21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02748-BC04-47B8-A904-318A1CCBC031}" type="slidenum">
              <a:rPr lang="it-IT" smtClean="0"/>
              <a:t>3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57912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E6903A3-5943-9CDE-C32C-991C466A6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Compute 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relationship</a:t>
            </a:r>
            <a:r>
              <a:rPr lang="it-IT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between</a:t>
            </a:r>
            <a:r>
              <a:rPr lang="it-IT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neighbors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C4648D4-18ED-0DC5-109F-62816A8FE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611" y="1690688"/>
            <a:ext cx="11272777" cy="1484734"/>
          </a:xfrm>
        </p:spPr>
        <p:txBody>
          <a:bodyPr>
            <a:normAutofit/>
          </a:bodyPr>
          <a:lstStyle/>
          <a:p>
            <a:pPr lvl="1"/>
            <a:r>
              <a:rPr lang="en-US" sz="2800" dirty="0"/>
              <a:t>Euclidean</a:t>
            </a:r>
            <a:r>
              <a:rPr lang="it-IT" sz="2800" dirty="0"/>
              <a:t> </a:t>
            </a:r>
            <a:r>
              <a:rPr lang="en-US" sz="2800" dirty="0"/>
              <a:t>distance</a:t>
            </a:r>
            <a:r>
              <a:rPr lang="it-IT" sz="2800" dirty="0"/>
              <a:t> </a:t>
            </a:r>
            <a:r>
              <a:rPr lang="en-US" sz="2800" dirty="0"/>
              <a:t>δ</a:t>
            </a:r>
            <a:r>
              <a:rPr lang="en-US" sz="2800" baseline="-25000" dirty="0"/>
              <a:t>ij</a:t>
            </a:r>
            <a:r>
              <a:rPr lang="en-US" sz="2800" dirty="0"/>
              <a:t> between p</a:t>
            </a:r>
            <a:r>
              <a:rPr lang="en-US" sz="2800" baseline="-25000" dirty="0"/>
              <a:t>i</a:t>
            </a:r>
            <a:r>
              <a:rPr lang="en-US" sz="2800" dirty="0"/>
              <a:t> and each n</a:t>
            </a:r>
            <a:r>
              <a:rPr lang="en-US" sz="2800" baseline="-25000" dirty="0"/>
              <a:t>ij</a:t>
            </a:r>
            <a:r>
              <a:rPr lang="en-US" sz="2800" dirty="0"/>
              <a:t> ∈ N</a:t>
            </a:r>
            <a:r>
              <a:rPr lang="en-US" sz="2800" baseline="-25000" dirty="0"/>
              <a:t>i</a:t>
            </a:r>
            <a:r>
              <a:rPr lang="it-IT" sz="2800" dirty="0"/>
              <a:t> </a:t>
            </a:r>
          </a:p>
          <a:p>
            <a:pPr lvl="1"/>
            <a:r>
              <a:rPr lang="it-IT" sz="2800" dirty="0"/>
              <a:t>angle </a:t>
            </a:r>
            <a:r>
              <a:rPr lang="el-GR" sz="2800" dirty="0"/>
              <a:t>θ</a:t>
            </a:r>
            <a:r>
              <a:rPr lang="it-IT" sz="2800" baseline="-25000" dirty="0"/>
              <a:t>ij</a:t>
            </a:r>
            <a:r>
              <a:rPr lang="it-IT" sz="2800" dirty="0"/>
              <a:t> </a:t>
            </a:r>
            <a:r>
              <a:rPr lang="en-US" sz="2800" dirty="0"/>
              <a:t>formed by the two-line segments (p</a:t>
            </a:r>
            <a:r>
              <a:rPr lang="en-US" sz="2800" baseline="-25000" dirty="0"/>
              <a:t>i</a:t>
            </a:r>
            <a:r>
              <a:rPr lang="en-US" sz="2800" dirty="0"/>
              <a:t> to n</a:t>
            </a:r>
            <a:r>
              <a:rPr lang="en-US" sz="2800" baseline="-25000" dirty="0"/>
              <a:t>ij</a:t>
            </a:r>
            <a:r>
              <a:rPr lang="en-US" sz="2800" dirty="0"/>
              <a:t>) and (n</a:t>
            </a:r>
            <a:r>
              <a:rPr lang="en-US" sz="2800" baseline="-25000" dirty="0"/>
              <a:t>ij</a:t>
            </a:r>
            <a:r>
              <a:rPr lang="en-US" sz="2800" dirty="0"/>
              <a:t> to m</a:t>
            </a:r>
            <a:r>
              <a:rPr lang="en-US" sz="2800" baseline="-25000" dirty="0"/>
              <a:t>ij</a:t>
            </a:r>
            <a:r>
              <a:rPr lang="en-US" sz="2800" dirty="0"/>
              <a:t>)</a:t>
            </a:r>
          </a:p>
          <a:p>
            <a:pPr lvl="2"/>
            <a:r>
              <a:rPr lang="en-US" sz="2400" dirty="0"/>
              <a:t>where m</a:t>
            </a:r>
            <a:r>
              <a:rPr lang="en-US" sz="2400" baseline="-25000" dirty="0"/>
              <a:t>ij</a:t>
            </a:r>
            <a:r>
              <a:rPr lang="en-US" sz="2400" dirty="0"/>
              <a:t>: most collinear 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69A2CA43-B2E3-4E5D-E717-3B4E429F2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455" y="3682579"/>
            <a:ext cx="3259087" cy="281029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EC003533-02D5-AB8A-0999-C11D4B4CC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02748-BC04-47B8-A904-318A1CCBC031}" type="slidenum">
              <a:rPr lang="it-IT" smtClean="0"/>
              <a:t>4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35935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94C272-4C92-C8C8-77D9-A3F11F370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Restore</a:t>
            </a:r>
            <a:r>
              <a:rPr lang="it-IT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original</a:t>
            </a:r>
            <a:r>
              <a:rPr lang="it-IT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relationships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F28A155-A97C-EDBC-8491-452B24524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9950" y="2242313"/>
            <a:ext cx="8352099" cy="46616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Optimization</a:t>
            </a:r>
            <a:r>
              <a:rPr lang="it-IT" dirty="0"/>
              <a:t> with an </a:t>
            </a:r>
            <a:r>
              <a:rPr lang="en-US" dirty="0"/>
              <a:t>heuristic</a:t>
            </a:r>
            <a:r>
              <a:rPr lang="it-IT" dirty="0"/>
              <a:t> </a:t>
            </a:r>
            <a:r>
              <a:rPr lang="en-US" dirty="0"/>
              <a:t>error</a:t>
            </a:r>
            <a:r>
              <a:rPr lang="it-IT" dirty="0"/>
              <a:t>, to </a:t>
            </a:r>
            <a:r>
              <a:rPr lang="en-US" dirty="0"/>
              <a:t>adjust</a:t>
            </a:r>
            <a:r>
              <a:rPr lang="it-IT" dirty="0"/>
              <a:t> points: </a:t>
            </a: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0FA9555C-569E-590E-D556-1714F99BD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119" y="2736072"/>
            <a:ext cx="6847760" cy="1385856"/>
          </a:xfrm>
          <a:prstGeom prst="rect">
            <a:avLst/>
          </a:prstGeom>
        </p:spPr>
      </p:pic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04D2B3B-D1E2-154F-77FD-155A4F875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02748-BC04-47B8-A904-318A1CCBC031}" type="slidenum">
              <a:rPr lang="it-IT" smtClean="0"/>
              <a:t>5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88404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6AA997-E6FB-EC84-F730-7E6EADB0F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Parameters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8D43DB8-419C-6733-97C6-A61DA283FF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91817"/>
            <a:ext cx="10515600" cy="2350135"/>
          </a:xfrm>
        </p:spPr>
        <p:txBody>
          <a:bodyPr>
            <a:normAutofit/>
          </a:bodyPr>
          <a:lstStyle/>
          <a:p>
            <a:r>
              <a:rPr lang="it-IT" sz="3200" dirty="0"/>
              <a:t>K </a:t>
            </a:r>
            <a:r>
              <a:rPr lang="en-US" sz="3200" dirty="0"/>
              <a:t>Number</a:t>
            </a:r>
            <a:r>
              <a:rPr lang="it-IT" sz="3200" dirty="0"/>
              <a:t> of </a:t>
            </a:r>
            <a:r>
              <a:rPr lang="en-US" sz="3200" dirty="0"/>
              <a:t>Nearest</a:t>
            </a:r>
            <a:r>
              <a:rPr lang="it-IT" sz="3200" dirty="0"/>
              <a:t> </a:t>
            </a:r>
            <a:r>
              <a:rPr lang="en-US" sz="3200" dirty="0"/>
              <a:t>Neighbors</a:t>
            </a:r>
            <a:r>
              <a:rPr lang="it-IT" sz="3200" dirty="0"/>
              <a:t> </a:t>
            </a:r>
          </a:p>
          <a:p>
            <a:r>
              <a:rPr lang="en-US" sz="3200" dirty="0"/>
              <a:t>Stopping</a:t>
            </a:r>
            <a:r>
              <a:rPr lang="it-IT" sz="3200" dirty="0"/>
              <a:t> </a:t>
            </a:r>
            <a:r>
              <a:rPr lang="en-US" sz="3200" dirty="0"/>
              <a:t>criterion</a:t>
            </a:r>
            <a:r>
              <a:rPr lang="it-IT" sz="3200" dirty="0"/>
              <a:t>: </a:t>
            </a:r>
            <a:r>
              <a:rPr lang="en-SG" sz="3200" dirty="0"/>
              <a:t>change</a:t>
            </a:r>
            <a:r>
              <a:rPr lang="it-IT" sz="3200" dirty="0"/>
              <a:t> in </a:t>
            </a:r>
            <a:r>
              <a:rPr lang="en-GB" sz="3200" dirty="0"/>
              <a:t>error</a:t>
            </a:r>
            <a:r>
              <a:rPr lang="it-IT" sz="3200" dirty="0"/>
              <a:t> and </a:t>
            </a:r>
            <a:r>
              <a:rPr lang="en-US" sz="3200" dirty="0"/>
              <a:t>patience</a:t>
            </a:r>
          </a:p>
          <a:p>
            <a:r>
              <a:rPr lang="el-GR" sz="3200" dirty="0"/>
              <a:t>σ</a:t>
            </a:r>
            <a:r>
              <a:rPr lang="it-IT" sz="3200" dirty="0"/>
              <a:t>= scale </a:t>
            </a:r>
            <a:r>
              <a:rPr lang="en-US" sz="3200" dirty="0"/>
              <a:t>factor</a:t>
            </a:r>
            <a:r>
              <a:rPr lang="it-IT" sz="3200" dirty="0"/>
              <a:t>  </a:t>
            </a:r>
            <a:r>
              <a:rPr lang="el-GR" sz="3200" dirty="0"/>
              <a:t>0 &lt; σ &lt; 1</a:t>
            </a:r>
            <a:r>
              <a:rPr lang="it-IT" sz="3200" dirty="0"/>
              <a:t> </a:t>
            </a:r>
          </a:p>
          <a:p>
            <a:r>
              <a:rPr lang="it-IT" sz="3200" dirty="0"/>
              <a:t>Learning rate (</a:t>
            </a:r>
            <a:r>
              <a:rPr lang="en-US" sz="3200" dirty="0"/>
              <a:t>minimization</a:t>
            </a:r>
            <a:r>
              <a:rPr lang="it-IT" sz="3200" dirty="0"/>
              <a:t> step for </a:t>
            </a:r>
            <a:r>
              <a:rPr lang="en-US" sz="3200" dirty="0"/>
              <a:t>hill</a:t>
            </a:r>
            <a:r>
              <a:rPr lang="it-IT" sz="3200" dirty="0"/>
              <a:t> climbing </a:t>
            </a:r>
            <a:r>
              <a:rPr lang="en-US" sz="3200" dirty="0"/>
              <a:t>process</a:t>
            </a:r>
            <a:r>
              <a:rPr lang="it-IT" sz="3200" dirty="0"/>
              <a:t>)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75C9DD2-BA0B-802F-650B-3B6D97FE6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02748-BC04-47B8-A904-318A1CCBC031}" type="slidenum">
              <a:rPr lang="it-IT" smtClean="0"/>
              <a:t>6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46168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CF0FB45-77DD-1441-35A4-B260F4228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2515" y="451158"/>
            <a:ext cx="2043896" cy="767771"/>
          </a:xfrm>
        </p:spPr>
        <p:txBody>
          <a:bodyPr anchor="b">
            <a:normAutofit fontScale="90000"/>
          </a:bodyPr>
          <a:lstStyle/>
          <a:p>
            <a:r>
              <a:rPr lang="en-US" sz="4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Results</a:t>
            </a:r>
            <a:r>
              <a:rPr lang="it-IT" sz="4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6CC64E0-CA73-00BD-533E-383A3FB97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7400"/>
            <a:ext cx="3247663" cy="3776472"/>
          </a:xfrm>
        </p:spPr>
        <p:txBody>
          <a:bodyPr>
            <a:normAutofit/>
          </a:bodyPr>
          <a:lstStyle/>
          <a:p>
            <a:r>
              <a:rPr lang="en-US" sz="1800" dirty="0"/>
              <a:t>MS: balance between preserving global structure (the overall shape) and local details</a:t>
            </a:r>
          </a:p>
          <a:p>
            <a:r>
              <a:rPr lang="en-US" sz="1800" dirty="0"/>
              <a:t>ISOMAP: excellent at representing the global layout of the data but tends to compress local variations</a:t>
            </a:r>
          </a:p>
          <a:p>
            <a:r>
              <a:rPr lang="en-US" sz="1800" dirty="0"/>
              <a:t>UMAP: preserving local relationships (nearby clusters remain intact) but sacrifices global precision</a:t>
            </a:r>
          </a:p>
        </p:txBody>
      </p:sp>
      <p:pic>
        <p:nvPicPr>
          <p:cNvPr id="1030" name="Picture 6" descr="Immagine che contiene schermata, testo, Diagramma&#10;&#10;Descrizione generata automaticamente">
            <a:extLst>
              <a:ext uri="{FF2B5EF4-FFF2-40B4-BE49-F238E27FC236}">
                <a16:creationId xmlns:a16="http://schemas.microsoft.com/office/drawing/2014/main" id="{30AA8D15-7006-9D59-478B-85BD01DFB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50854" y="1027611"/>
            <a:ext cx="4461895" cy="2721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magine che contiene schermata, Policromia&#10;&#10;Descrizione generata automaticamente">
            <a:extLst>
              <a:ext uri="{FF2B5EF4-FFF2-40B4-BE49-F238E27FC236}">
                <a16:creationId xmlns:a16="http://schemas.microsoft.com/office/drawing/2014/main" id="{DDC4331B-8238-ABFD-7A12-679BA860EA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47986" y="3816532"/>
            <a:ext cx="4566555" cy="2774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4BB5E18B-8BA1-09D1-57DF-EC94531EE6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2854" y="566928"/>
            <a:ext cx="2748977" cy="3166639"/>
          </a:xfrm>
          <a:prstGeom prst="rect">
            <a:avLst/>
          </a:prstGeom>
        </p:spPr>
      </p:pic>
      <p:sp>
        <p:nvSpPr>
          <p:cNvPr id="10" name="Segnaposto numero diapositiva 9">
            <a:extLst>
              <a:ext uri="{FF2B5EF4-FFF2-40B4-BE49-F238E27FC236}">
                <a16:creationId xmlns:a16="http://schemas.microsoft.com/office/drawing/2014/main" id="{FA4E8A57-BB70-5A05-36DD-B935B1D61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02748-BC04-47B8-A904-318A1CCBC031}" type="slidenum">
              <a:rPr lang="it-IT" smtClean="0"/>
              <a:t>7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96387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B948DD-FA55-6E72-66F5-5985FD6D0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Conclusions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2437B4E-20D8-F8E5-E49B-B48362BA4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3600" dirty="0"/>
              <a:t>Advantages</a:t>
            </a:r>
            <a:r>
              <a:rPr lang="it-IT" sz="3600" dirty="0"/>
              <a:t>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200" dirty="0"/>
              <a:t> Balanced Preservation of Global and Local Structure</a:t>
            </a:r>
            <a:endParaRPr lang="it-IT" sz="32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200" dirty="0"/>
              <a:t> Adaptability</a:t>
            </a:r>
            <a:r>
              <a:rPr lang="it-IT" sz="3200" dirty="0"/>
              <a:t> to </a:t>
            </a:r>
            <a:r>
              <a:rPr lang="en-US" sz="3200" dirty="0"/>
              <a:t>Complex</a:t>
            </a:r>
            <a:r>
              <a:rPr lang="it-IT" sz="3200" dirty="0"/>
              <a:t> </a:t>
            </a:r>
            <a:r>
              <a:rPr lang="en-US" sz="3200" dirty="0"/>
              <a:t>Manifolds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it-IT" sz="3200" dirty="0"/>
              <a:t> Accurate</a:t>
            </a:r>
          </a:p>
          <a:p>
            <a:r>
              <a:rPr lang="en-US" sz="3600" dirty="0"/>
              <a:t>Disadvantages</a:t>
            </a:r>
            <a:r>
              <a:rPr lang="it-IT" sz="3600" dirty="0"/>
              <a:t>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200" dirty="0"/>
              <a:t> Possible</a:t>
            </a:r>
            <a:r>
              <a:rPr lang="it-IT" sz="3200" dirty="0"/>
              <a:t> </a:t>
            </a:r>
            <a:r>
              <a:rPr lang="en-US" sz="3200" dirty="0"/>
              <a:t>convergence</a:t>
            </a:r>
            <a:r>
              <a:rPr lang="it-IT" sz="3200" dirty="0"/>
              <a:t> to </a:t>
            </a:r>
            <a:r>
              <a:rPr lang="it-IT" sz="3200" dirty="0" err="1"/>
              <a:t>local</a:t>
            </a:r>
            <a:r>
              <a:rPr lang="it-IT" sz="3200" dirty="0"/>
              <a:t> minima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200" dirty="0"/>
              <a:t> Difficult</a:t>
            </a:r>
            <a:r>
              <a:rPr lang="it-IT" sz="3200" dirty="0"/>
              <a:t> Tuning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200" dirty="0"/>
              <a:t> Possibly</a:t>
            </a:r>
            <a:r>
              <a:rPr lang="it-IT" sz="3200" dirty="0"/>
              <a:t> slow</a:t>
            </a:r>
          </a:p>
          <a:p>
            <a:pPr marL="0" indent="0">
              <a:buNone/>
            </a:pPr>
            <a:endParaRPr lang="it-IT" dirty="0"/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4361ED4-5C41-6AF6-CED9-45C845483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02748-BC04-47B8-A904-318A1CCBC031}" type="slidenum">
              <a:rPr lang="it-IT" smtClean="0"/>
              <a:t>8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9396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8EA0F7-3D8D-B532-85E3-078457C5D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4619" y="2633763"/>
            <a:ext cx="5122762" cy="1325563"/>
          </a:xfrm>
        </p:spPr>
        <p:txBody>
          <a:bodyPr>
            <a:normAutofit/>
          </a:bodyPr>
          <a:lstStyle/>
          <a:p>
            <a:r>
              <a:rPr lang="en-US" sz="8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Thank you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171EF33-DA3D-E355-A246-64370F275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02748-BC04-47B8-A904-318A1CCBC031}" type="slidenum">
              <a:rPr lang="it-IT" smtClean="0"/>
              <a:t>9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36915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i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i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288</Words>
  <Application>Microsoft Office PowerPoint</Application>
  <PresentationFormat>Widescreen</PresentationFormat>
  <Paragraphs>53</Paragraphs>
  <Slides>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Courier New</vt:lpstr>
      <vt:lpstr>Office Theme</vt:lpstr>
      <vt:lpstr>Unsupervised Learning </vt:lpstr>
      <vt:lpstr>The method </vt:lpstr>
      <vt:lpstr>The Algorithm </vt:lpstr>
      <vt:lpstr>Compute relationship between neighbors</vt:lpstr>
      <vt:lpstr>Restore original relationships</vt:lpstr>
      <vt:lpstr>Parameters</vt:lpstr>
      <vt:lpstr>Results </vt:lpstr>
      <vt:lpstr>Conclusions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Rita Ortese</dc:creator>
  <cp:lastModifiedBy>Rita Ortese</cp:lastModifiedBy>
  <cp:revision>2</cp:revision>
  <dcterms:created xsi:type="dcterms:W3CDTF">2025-01-11T10:51:01Z</dcterms:created>
  <dcterms:modified xsi:type="dcterms:W3CDTF">2025-12-23T23:15:24Z</dcterms:modified>
</cp:coreProperties>
</file>
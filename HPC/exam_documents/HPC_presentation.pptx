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Lst>
  <p:sldIdLst>
    <p:sldId id="256" r:id="rId5"/>
    <p:sldId id="257" r:id="rId6"/>
    <p:sldId id="258" r:id="rId7"/>
    <p:sldId id="259" r:id="rId8"/>
    <p:sldId id="261" r:id="rId9"/>
    <p:sldId id="260" r:id="rId10"/>
    <p:sldId id="262" r:id="rId11"/>
    <p:sldId id="263" r:id="rId12"/>
    <p:sldId id="264" r:id="rId13"/>
    <p:sldId id="265" r:id="rId14"/>
    <p:sldId id="266" r:id="rId15"/>
    <p:sldId id="267" r:id="rId16"/>
    <p:sldId id="268" r:id="rId17"/>
    <p:sldId id="269" r:id="rId18"/>
    <p:sldId id="270" r:id="rId19"/>
    <p:sldId id="272" r:id="rId20"/>
    <p:sldId id="271" r:id="rId21"/>
    <p:sldId id="274" r:id="rId22"/>
    <p:sldId id="275" r:id="rId23"/>
    <p:sldId id="276" r:id="rId2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654E1-8065-4635-A685-50496ACD07DC}" v="91" dt="2026-03-05T22:53:54.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86" y="-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3/5/2026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355670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3/5/2026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260321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3/5/2026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35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3/5/2026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867639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3/5/2026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057753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3/5/2026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458139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3/5/2026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902284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3/5/2026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351758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3/5/2026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558421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3/5/2026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846535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3/5/2026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047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3/5/2026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89802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 name="Rectangle 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C823E16-E2FD-B59A-8C7A-DE792E7E35D7}"/>
              </a:ext>
            </a:extLst>
          </p:cNvPr>
          <p:cNvSpPr>
            <a:spLocks noGrp="1"/>
          </p:cNvSpPr>
          <p:nvPr>
            <p:ph type="title"/>
          </p:nvPr>
        </p:nvSpPr>
        <p:spPr>
          <a:xfrm>
            <a:off x="640079" y="1473198"/>
            <a:ext cx="7414029" cy="2696866"/>
          </a:xfrm>
        </p:spPr>
        <p:txBody>
          <a:bodyPr vert="horz" lIns="91440" tIns="45720" rIns="91440" bIns="45720" rtlCol="0" anchor="b">
            <a:normAutofit/>
          </a:bodyPr>
          <a:lstStyle/>
          <a:p>
            <a:r>
              <a:rPr lang="en-US" sz="6600"/>
              <a:t>Parallel 2D Stencil Computation </a:t>
            </a:r>
          </a:p>
        </p:txBody>
      </p:sp>
      <p:sp>
        <p:nvSpPr>
          <p:cNvPr id="3" name="Sottotitolo 2">
            <a:extLst>
              <a:ext uri="{FF2B5EF4-FFF2-40B4-BE49-F238E27FC236}">
                <a16:creationId xmlns:a16="http://schemas.microsoft.com/office/drawing/2014/main" id="{C0411490-12BF-CF18-5467-404FC41E7B63}"/>
              </a:ext>
            </a:extLst>
          </p:cNvPr>
          <p:cNvSpPr>
            <a:spLocks noGrp="1"/>
          </p:cNvSpPr>
          <p:nvPr>
            <p:ph type="body" idx="1"/>
          </p:nvPr>
        </p:nvSpPr>
        <p:spPr>
          <a:xfrm>
            <a:off x="640080" y="5044043"/>
            <a:ext cx="6806609" cy="1175780"/>
          </a:xfrm>
        </p:spPr>
        <p:txBody>
          <a:bodyPr vert="horz" lIns="91440" tIns="45720" rIns="91440" bIns="45720" rtlCol="0" anchor="t">
            <a:normAutofit/>
          </a:bodyPr>
          <a:lstStyle/>
          <a:p>
            <a:r>
              <a:rPr lang="en-US" sz="1500" b="1" cap="all" spc="300"/>
              <a:t>High Performance Computing </a:t>
            </a:r>
          </a:p>
          <a:p>
            <a:r>
              <a:rPr lang="en-US" sz="1500" b="1" cap="all" spc="300"/>
              <a:t>Ortese Rita</a:t>
            </a:r>
          </a:p>
          <a:p>
            <a:r>
              <a:rPr lang="en-US" sz="1500" b="1" cap="all" spc="300"/>
              <a:t>University of Trieste </a:t>
            </a:r>
          </a:p>
          <a:p>
            <a:endParaRPr lang="en-US" sz="1500" b="1" cap="all" spc="300"/>
          </a:p>
          <a:p>
            <a:endParaRPr lang="en-US" sz="1500" b="1" cap="all" spc="300"/>
          </a:p>
        </p:txBody>
      </p:sp>
      <p:cxnSp>
        <p:nvCxnSpPr>
          <p:cNvPr id="12" name="Straight Connector 11">
            <a:extLst>
              <a:ext uri="{FF2B5EF4-FFF2-40B4-BE49-F238E27FC236}">
                <a16:creationId xmlns:a16="http://schemas.microsoft.com/office/drawing/2014/main" id="{9B9E2C38-33D2-1944-B9C2-8965AFC61E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869" y="4733523"/>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674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0AB0E7D4-684F-E7F2-C044-7931ACDE7934}"/>
              </a:ext>
            </a:extLst>
          </p:cNvPr>
          <p:cNvSpPr>
            <a:spLocks noGrp="1"/>
          </p:cNvSpPr>
          <p:nvPr>
            <p:ph type="title"/>
          </p:nvPr>
        </p:nvSpPr>
        <p:spPr>
          <a:xfrm>
            <a:off x="640080" y="1371600"/>
            <a:ext cx="7942446" cy="1097280"/>
          </a:xfrm>
        </p:spPr>
        <p:txBody>
          <a:bodyPr>
            <a:normAutofit/>
          </a:bodyPr>
          <a:lstStyle/>
          <a:p>
            <a:pPr>
              <a:lnSpc>
                <a:spcPct val="90000"/>
              </a:lnSpc>
            </a:pPr>
            <a:r>
              <a:rPr lang="en-US" sz="3400" dirty="0"/>
              <a:t>Stencil-Based heat Diffusion Simulation </a:t>
            </a:r>
          </a:p>
        </p:txBody>
      </p:sp>
      <p:cxnSp>
        <p:nvCxnSpPr>
          <p:cNvPr id="14" name="Straight Connector 13">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Segnaposto contenuto 4">
            <a:extLst>
              <a:ext uri="{FF2B5EF4-FFF2-40B4-BE49-F238E27FC236}">
                <a16:creationId xmlns:a16="http://schemas.microsoft.com/office/drawing/2014/main" id="{A200B679-504B-2E98-DF3F-6DB4AE61F255}"/>
              </a:ext>
            </a:extLst>
          </p:cNvPr>
          <p:cNvSpPr>
            <a:spLocks noGrp="1"/>
          </p:cNvSpPr>
          <p:nvPr>
            <p:ph idx="1"/>
          </p:nvPr>
        </p:nvSpPr>
        <p:spPr>
          <a:xfrm>
            <a:off x="640080" y="2633236"/>
            <a:ext cx="6691162" cy="3666980"/>
          </a:xfrm>
        </p:spPr>
        <p:txBody>
          <a:bodyPr>
            <a:normAutofit fontScale="92500"/>
          </a:bodyPr>
          <a:lstStyle/>
          <a:p>
            <a:pPr marL="0" indent="0">
              <a:buNone/>
            </a:pPr>
            <a:r>
              <a:rPr lang="en-US" dirty="0"/>
              <a:t>The application simulates </a:t>
            </a:r>
            <a:r>
              <a:rPr lang="en-US" b="1" dirty="0"/>
              <a:t>heat diffusion on a 2D grid</a:t>
            </a:r>
            <a:r>
              <a:rPr lang="en-US" dirty="0"/>
              <a:t> using a 5-points stencil numerical method:</a:t>
            </a:r>
          </a:p>
          <a:p>
            <a:r>
              <a:rPr lang="en-US" dirty="0"/>
              <a:t>Domain: grid where each cell represents the energy of the system</a:t>
            </a:r>
          </a:p>
          <a:p>
            <a:r>
              <a:rPr lang="en-US" dirty="0"/>
              <a:t>At each iteration: energy is injected into specific source points and diffuses through nearest-</a:t>
            </a:r>
            <a:r>
              <a:rPr lang="en-US" dirty="0" err="1"/>
              <a:t>neighbour</a:t>
            </a:r>
            <a:r>
              <a:rPr lang="en-US" dirty="0"/>
              <a:t> interactions</a:t>
            </a:r>
          </a:p>
          <a:p>
            <a:pPr marL="0" indent="0">
              <a:buNone/>
            </a:pPr>
            <a:r>
              <a:rPr lang="en-US" dirty="0"/>
              <a:t>Since the computation is repeated over large grids and many iterations, it becomes computationally expensive and therefore suitable for parallelization.</a:t>
            </a:r>
          </a:p>
        </p:txBody>
      </p:sp>
      <p:pic>
        <p:nvPicPr>
          <p:cNvPr id="7" name="Immagine 6" descr="Immagine che contiene quadrato, schermata, Policromia, Rettangolo&#10;&#10;Il contenuto generato dall'IA potrebbe non essere corretto.">
            <a:extLst>
              <a:ext uri="{FF2B5EF4-FFF2-40B4-BE49-F238E27FC236}">
                <a16:creationId xmlns:a16="http://schemas.microsoft.com/office/drawing/2014/main" id="{B075BE99-D2B1-9F92-5404-D69138E9F6BE}"/>
              </a:ext>
            </a:extLst>
          </p:cNvPr>
          <p:cNvPicPr>
            <a:picLocks noChangeAspect="1"/>
          </p:cNvPicPr>
          <p:nvPr/>
        </p:nvPicPr>
        <p:blipFill>
          <a:blip r:embed="rId2"/>
          <a:stretch>
            <a:fillRect/>
          </a:stretch>
        </p:blipFill>
        <p:spPr>
          <a:xfrm>
            <a:off x="8117187" y="2581174"/>
            <a:ext cx="2905111" cy="2985437"/>
          </a:xfrm>
          <a:prstGeom prst="rect">
            <a:avLst/>
          </a:prstGeom>
        </p:spPr>
      </p:pic>
    </p:spTree>
    <p:extLst>
      <p:ext uri="{BB962C8B-B14F-4D97-AF65-F5344CB8AC3E}">
        <p14:creationId xmlns:p14="http://schemas.microsoft.com/office/powerpoint/2010/main" val="851179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BAC29EC-5946-7A7D-78AB-0B49AB5A7B0F}"/>
              </a:ext>
            </a:extLst>
          </p:cNvPr>
          <p:cNvSpPr>
            <a:spLocks noGrp="1"/>
          </p:cNvSpPr>
          <p:nvPr>
            <p:ph type="title"/>
          </p:nvPr>
        </p:nvSpPr>
        <p:spPr>
          <a:xfrm>
            <a:off x="640080" y="1371600"/>
            <a:ext cx="5737859" cy="1097280"/>
          </a:xfrm>
        </p:spPr>
        <p:txBody>
          <a:bodyPr>
            <a:normAutofit/>
          </a:bodyPr>
          <a:lstStyle/>
          <a:p>
            <a:r>
              <a:rPr lang="en-US" dirty="0"/>
              <a:t>Parallelization strategy </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2C77B6BA-FFBA-7600-152A-C71D5A0CD07F}"/>
              </a:ext>
            </a:extLst>
          </p:cNvPr>
          <p:cNvSpPr>
            <a:spLocks noGrp="1"/>
          </p:cNvSpPr>
          <p:nvPr>
            <p:ph idx="1"/>
          </p:nvPr>
        </p:nvSpPr>
        <p:spPr>
          <a:xfrm>
            <a:off x="640080" y="2633236"/>
            <a:ext cx="6744568" cy="3666980"/>
          </a:xfrm>
        </p:spPr>
        <p:txBody>
          <a:bodyPr>
            <a:normAutofit/>
          </a:bodyPr>
          <a:lstStyle/>
          <a:p>
            <a:pPr marL="0" indent="0">
              <a:buNone/>
            </a:pPr>
            <a:r>
              <a:rPr lang="en-US" dirty="0"/>
              <a:t>To handle large grids efficiently, the computation is parallelized using a hybrid approach based on:</a:t>
            </a:r>
          </a:p>
          <a:p>
            <a:r>
              <a:rPr lang="en-US" dirty="0"/>
              <a:t>MPI: parallelization between process</a:t>
            </a:r>
          </a:p>
          <a:p>
            <a:r>
              <a:rPr lang="en-US" dirty="0"/>
              <a:t>OpenMP: parallelization inside each process (threads)</a:t>
            </a:r>
          </a:p>
          <a:p>
            <a:pPr marL="0" indent="0">
              <a:buNone/>
            </a:pPr>
            <a:r>
              <a:rPr lang="en-US" b="1" dirty="0"/>
              <a:t>Problem</a:t>
            </a:r>
            <a:r>
              <a:rPr lang="en-US" dirty="0"/>
              <a:t>: When the grid is decomposed among different MPI tasks, some of these neighbors may belong to a </a:t>
            </a:r>
            <a:r>
              <a:rPr lang="en-US" b="1" dirty="0"/>
              <a:t>different process. </a:t>
            </a:r>
            <a:endParaRPr lang="en-US" dirty="0"/>
          </a:p>
        </p:txBody>
      </p:sp>
      <p:pic>
        <p:nvPicPr>
          <p:cNvPr id="5" name="Immagine 4" descr="Immagine che contiene testo, schermata, quadrato, linea&#10;&#10;Il contenuto generato dall'IA potrebbe non essere corretto.">
            <a:extLst>
              <a:ext uri="{FF2B5EF4-FFF2-40B4-BE49-F238E27FC236}">
                <a16:creationId xmlns:a16="http://schemas.microsoft.com/office/drawing/2014/main" id="{70ED023B-92E1-9FCB-BAD6-CC7AD76FCB58}"/>
              </a:ext>
            </a:extLst>
          </p:cNvPr>
          <p:cNvPicPr>
            <a:picLocks noChangeAspect="1"/>
          </p:cNvPicPr>
          <p:nvPr/>
        </p:nvPicPr>
        <p:blipFill>
          <a:blip r:embed="rId2"/>
          <a:stretch>
            <a:fillRect/>
          </a:stretch>
        </p:blipFill>
        <p:spPr>
          <a:xfrm>
            <a:off x="7755038" y="2740220"/>
            <a:ext cx="3775970" cy="3071976"/>
          </a:xfrm>
          <a:prstGeom prst="rect">
            <a:avLst/>
          </a:prstGeom>
        </p:spPr>
      </p:pic>
    </p:spTree>
    <p:extLst>
      <p:ext uri="{BB962C8B-B14F-4D97-AF65-F5344CB8AC3E}">
        <p14:creationId xmlns:p14="http://schemas.microsoft.com/office/powerpoint/2010/main" val="1007524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471B9BF-283C-E757-A70F-BEFECA496B03}"/>
              </a:ext>
            </a:extLst>
          </p:cNvPr>
          <p:cNvSpPr>
            <a:spLocks noGrp="1"/>
          </p:cNvSpPr>
          <p:nvPr>
            <p:ph type="title"/>
          </p:nvPr>
        </p:nvSpPr>
        <p:spPr>
          <a:xfrm>
            <a:off x="640080" y="1371600"/>
            <a:ext cx="5737859" cy="1097280"/>
          </a:xfrm>
        </p:spPr>
        <p:txBody>
          <a:bodyPr>
            <a:normAutofit/>
          </a:bodyPr>
          <a:lstStyle/>
          <a:p>
            <a:r>
              <a:rPr lang="en-US" dirty="0"/>
              <a:t>Halo cell Communication</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884E3CB4-1FD6-572B-DCEC-EEBE52DA5557}"/>
              </a:ext>
            </a:extLst>
          </p:cNvPr>
          <p:cNvSpPr>
            <a:spLocks noGrp="1"/>
          </p:cNvSpPr>
          <p:nvPr>
            <p:ph idx="1"/>
          </p:nvPr>
        </p:nvSpPr>
        <p:spPr>
          <a:xfrm>
            <a:off x="640079" y="2633236"/>
            <a:ext cx="6274067" cy="3666980"/>
          </a:xfrm>
        </p:spPr>
        <p:txBody>
          <a:bodyPr>
            <a:normAutofit/>
          </a:bodyPr>
          <a:lstStyle/>
          <a:p>
            <a:pPr marL="0" indent="0">
              <a:lnSpc>
                <a:spcPct val="110000"/>
              </a:lnSpc>
              <a:buNone/>
            </a:pPr>
            <a:r>
              <a:rPr lang="en-US" sz="1600" dirty="0"/>
              <a:t>If the values of neighboring cells belong to adjacent MPI tasks, we use the Halo Exchange: each process stores additional boundary layers called halo or ghost cells</a:t>
            </a:r>
          </a:p>
          <a:p>
            <a:pPr marL="0" indent="0">
              <a:lnSpc>
                <a:spcPct val="110000"/>
              </a:lnSpc>
              <a:buNone/>
            </a:pPr>
            <a:r>
              <a:rPr lang="en-US" sz="1600" dirty="0"/>
              <a:t>Before each iteration, processes exchange their border values with the </a:t>
            </a:r>
            <a:r>
              <a:rPr lang="en-US" sz="1600" b="1" dirty="0"/>
              <a:t>north, south, east, and west neighbors</a:t>
            </a:r>
            <a:r>
              <a:rPr lang="en-US" sz="1600" dirty="0"/>
              <a:t>, filling these ghost cells through MPI communication. </a:t>
            </a:r>
          </a:p>
          <a:p>
            <a:pPr marL="0" indent="0">
              <a:lnSpc>
                <a:spcPct val="110000"/>
              </a:lnSpc>
              <a:buNone/>
            </a:pPr>
            <a:r>
              <a:rPr lang="en-US" sz="1600" dirty="0"/>
              <a:t>The boundary conditions can be:</a:t>
            </a:r>
          </a:p>
          <a:p>
            <a:pPr>
              <a:lnSpc>
                <a:spcPct val="110000"/>
              </a:lnSpc>
            </a:pPr>
            <a:r>
              <a:rPr lang="en-US" sz="1600" b="1" dirty="0"/>
              <a:t>Periodic: </a:t>
            </a:r>
            <a:r>
              <a:rPr lang="en-US" sz="1600" dirty="0"/>
              <a:t>the grid wraps around and opposite boundaries are connected</a:t>
            </a:r>
          </a:p>
          <a:p>
            <a:pPr>
              <a:lnSpc>
                <a:spcPct val="110000"/>
              </a:lnSpc>
            </a:pPr>
            <a:r>
              <a:rPr lang="en-US" sz="1600" b="1" dirty="0"/>
              <a:t>Non-periodic: </a:t>
            </a:r>
            <a:r>
              <a:rPr lang="en-US" sz="1600" dirty="0"/>
              <a:t>where boundary cells only interact with existing neighbors.</a:t>
            </a:r>
          </a:p>
        </p:txBody>
      </p:sp>
      <p:pic>
        <p:nvPicPr>
          <p:cNvPr id="5" name="Immagine 4" descr="Immagine che contiene schermata, testo, diagramma, quadrato&#10;&#10;Il contenuto generato dall'IA potrebbe non essere corretto.">
            <a:extLst>
              <a:ext uri="{FF2B5EF4-FFF2-40B4-BE49-F238E27FC236}">
                <a16:creationId xmlns:a16="http://schemas.microsoft.com/office/drawing/2014/main" id="{955E66BE-58D7-0E6F-513D-F4BA2BBD0475}"/>
              </a:ext>
            </a:extLst>
          </p:cNvPr>
          <p:cNvPicPr>
            <a:picLocks noChangeAspect="1"/>
          </p:cNvPicPr>
          <p:nvPr/>
        </p:nvPicPr>
        <p:blipFill>
          <a:blip r:embed="rId2"/>
          <a:stretch>
            <a:fillRect/>
          </a:stretch>
        </p:blipFill>
        <p:spPr>
          <a:xfrm>
            <a:off x="7218947" y="1613193"/>
            <a:ext cx="4312061" cy="4687022"/>
          </a:xfrm>
          <a:prstGeom prst="rect">
            <a:avLst/>
          </a:prstGeom>
        </p:spPr>
      </p:pic>
    </p:spTree>
    <p:extLst>
      <p:ext uri="{BB962C8B-B14F-4D97-AF65-F5344CB8AC3E}">
        <p14:creationId xmlns:p14="http://schemas.microsoft.com/office/powerpoint/2010/main" val="2495657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E9C1AAA-914F-9F4E-EBE5-CB94DC967E94}"/>
              </a:ext>
            </a:extLst>
          </p:cNvPr>
          <p:cNvSpPr>
            <a:spLocks noGrp="1"/>
          </p:cNvSpPr>
          <p:nvPr>
            <p:ph type="title"/>
          </p:nvPr>
        </p:nvSpPr>
        <p:spPr>
          <a:xfrm>
            <a:off x="1946564" y="1249217"/>
            <a:ext cx="8298873" cy="2258284"/>
          </a:xfrm>
        </p:spPr>
        <p:txBody>
          <a:bodyPr vert="horz" lIns="91440" tIns="45720" rIns="91440" bIns="45720" rtlCol="0" anchor="b">
            <a:normAutofit/>
          </a:bodyPr>
          <a:lstStyle/>
          <a:p>
            <a:pPr algn="ctr"/>
            <a:r>
              <a:rPr lang="en-US" sz="6600" dirty="0"/>
              <a:t>Implementation </a:t>
            </a:r>
          </a:p>
        </p:txBody>
      </p:sp>
      <p:cxnSp>
        <p:nvCxnSpPr>
          <p:cNvPr id="11" name="Straight Connector 10">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9380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D694F7B-4AAC-98F8-E17E-B7F1BEB624DC}"/>
              </a:ext>
            </a:extLst>
          </p:cNvPr>
          <p:cNvSpPr>
            <a:spLocks noGrp="1"/>
          </p:cNvSpPr>
          <p:nvPr>
            <p:ph type="title"/>
          </p:nvPr>
        </p:nvSpPr>
        <p:spPr/>
        <p:txBody>
          <a:bodyPr/>
          <a:lstStyle/>
          <a:p>
            <a:r>
              <a:rPr lang="it-IT" dirty="0" err="1"/>
              <a:t>Hybrid</a:t>
            </a:r>
            <a:r>
              <a:rPr lang="it-IT" dirty="0"/>
              <a:t> MPI + </a:t>
            </a:r>
            <a:r>
              <a:rPr lang="it-IT" dirty="0" err="1"/>
              <a:t>OpenMP</a:t>
            </a:r>
            <a:r>
              <a:rPr lang="it-IT" dirty="0"/>
              <a:t> </a:t>
            </a:r>
            <a:r>
              <a:rPr lang="it-IT" dirty="0" err="1"/>
              <a:t>Implementation</a:t>
            </a:r>
            <a:endParaRPr lang="en-US" dirty="0"/>
          </a:p>
        </p:txBody>
      </p:sp>
      <p:sp>
        <p:nvSpPr>
          <p:cNvPr id="3" name="Segnaposto contenuto 2">
            <a:extLst>
              <a:ext uri="{FF2B5EF4-FFF2-40B4-BE49-F238E27FC236}">
                <a16:creationId xmlns:a16="http://schemas.microsoft.com/office/drawing/2014/main" id="{16BE9395-9A33-64D9-8B9E-05C1E231188F}"/>
              </a:ext>
            </a:extLst>
          </p:cNvPr>
          <p:cNvSpPr>
            <a:spLocks noGrp="1"/>
          </p:cNvSpPr>
          <p:nvPr>
            <p:ph idx="1"/>
          </p:nvPr>
        </p:nvSpPr>
        <p:spPr>
          <a:xfrm>
            <a:off x="640080" y="2294021"/>
            <a:ext cx="10890928" cy="3905611"/>
          </a:xfrm>
        </p:spPr>
        <p:txBody>
          <a:bodyPr>
            <a:normAutofit fontScale="92500" lnSpcReduction="10000"/>
          </a:bodyPr>
          <a:lstStyle/>
          <a:p>
            <a:pPr marL="0" indent="0">
              <a:buNone/>
            </a:pPr>
            <a:r>
              <a:rPr lang="en-US" dirty="0"/>
              <a:t>The parallel version uses a </a:t>
            </a:r>
            <a:r>
              <a:rPr lang="en-US" b="1" dirty="0"/>
              <a:t>hybrid MPI + OpenMP model:</a:t>
            </a:r>
          </a:p>
          <a:p>
            <a:r>
              <a:rPr lang="en-US" b="1" dirty="0"/>
              <a:t>MPI: </a:t>
            </a:r>
          </a:p>
          <a:p>
            <a:pPr lvl="1">
              <a:buFont typeface="Courier New" panose="02070309020205020404" pitchFamily="49" charset="0"/>
              <a:buChar char="o"/>
            </a:pPr>
            <a:r>
              <a:rPr lang="en-US" dirty="0"/>
              <a:t>responsible for the distributed-memory parallelism </a:t>
            </a:r>
          </a:p>
          <a:p>
            <a:pPr lvl="1">
              <a:buFont typeface="Courier New" panose="02070309020205020404" pitchFamily="49" charset="0"/>
              <a:buChar char="o"/>
            </a:pPr>
            <a:r>
              <a:rPr lang="en-US" dirty="0"/>
              <a:t>decompose the global grid into subdomains (patches), one per MPI task</a:t>
            </a:r>
          </a:p>
          <a:p>
            <a:pPr lvl="1">
              <a:buFont typeface="Courier New" panose="02070309020205020404" pitchFamily="49" charset="0"/>
              <a:buChar char="o"/>
            </a:pPr>
            <a:r>
              <a:rPr lang="en-US" dirty="0"/>
              <a:t>processes, at each iterations, exchange halo data using non-blocking communication</a:t>
            </a:r>
          </a:p>
          <a:p>
            <a:r>
              <a:rPr lang="en-US" b="1" dirty="0"/>
              <a:t>OpenMP</a:t>
            </a:r>
            <a:r>
              <a:rPr lang="en-US" dirty="0"/>
              <a:t>: </a:t>
            </a:r>
          </a:p>
          <a:p>
            <a:pPr lvl="1">
              <a:buFont typeface="Courier New" panose="02070309020205020404" pitchFamily="49" charset="0"/>
              <a:buChar char="o"/>
            </a:pPr>
            <a:r>
              <a:rPr lang="en-US" dirty="0"/>
              <a:t>Responsible for the shared-memory parallelism</a:t>
            </a:r>
          </a:p>
          <a:p>
            <a:pPr lvl="1">
              <a:buFont typeface="Courier New" panose="02070309020205020404" pitchFamily="49" charset="0"/>
              <a:buChar char="o"/>
            </a:pPr>
            <a:r>
              <a:rPr lang="en-US" dirty="0"/>
              <a:t>Parallelizes the main update loops, withing each MPI process</a:t>
            </a:r>
          </a:p>
          <a:p>
            <a:pPr marL="0" indent="0">
              <a:buNone/>
            </a:pPr>
            <a:r>
              <a:rPr lang="en-US" dirty="0"/>
              <a:t>MPI is initialized with </a:t>
            </a:r>
            <a:r>
              <a:rPr lang="en-US" b="1" dirty="0"/>
              <a:t>MPI_THREAD_FUNNELED</a:t>
            </a:r>
            <a:r>
              <a:rPr lang="en-US" dirty="0"/>
              <a:t>, therefore OpenMP threads are used for computation but only the </a:t>
            </a:r>
            <a:r>
              <a:rPr lang="en-US" b="1" dirty="0"/>
              <a:t>master thread</a:t>
            </a:r>
            <a:r>
              <a:rPr lang="en-US" dirty="0"/>
              <a:t> performs MPI communication</a:t>
            </a:r>
          </a:p>
          <a:p>
            <a:pPr marL="0" indent="0">
              <a:buNone/>
            </a:pPr>
            <a:endParaRPr lang="en-US" dirty="0"/>
          </a:p>
        </p:txBody>
      </p:sp>
    </p:spTree>
    <p:extLst>
      <p:ext uri="{BB962C8B-B14F-4D97-AF65-F5344CB8AC3E}">
        <p14:creationId xmlns:p14="http://schemas.microsoft.com/office/powerpoint/2010/main" val="882687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3F7F5A-9E10-56C2-BE3F-4F89836495DB}"/>
              </a:ext>
            </a:extLst>
          </p:cNvPr>
          <p:cNvSpPr>
            <a:spLocks noGrp="1"/>
          </p:cNvSpPr>
          <p:nvPr>
            <p:ph type="title"/>
          </p:nvPr>
        </p:nvSpPr>
        <p:spPr/>
        <p:txBody>
          <a:bodyPr/>
          <a:lstStyle/>
          <a:p>
            <a:r>
              <a:rPr lang="en-US" dirty="0"/>
              <a:t>Memory and data management </a:t>
            </a:r>
          </a:p>
        </p:txBody>
      </p:sp>
      <p:sp>
        <p:nvSpPr>
          <p:cNvPr id="3" name="Segnaposto contenuto 2">
            <a:extLst>
              <a:ext uri="{FF2B5EF4-FFF2-40B4-BE49-F238E27FC236}">
                <a16:creationId xmlns:a16="http://schemas.microsoft.com/office/drawing/2014/main" id="{4300BDB6-00FC-362D-13CF-1C20AE0969C3}"/>
              </a:ext>
            </a:extLst>
          </p:cNvPr>
          <p:cNvSpPr>
            <a:spLocks noGrp="1"/>
          </p:cNvSpPr>
          <p:nvPr>
            <p:ph idx="1"/>
          </p:nvPr>
        </p:nvSpPr>
        <p:spPr/>
        <p:txBody>
          <a:bodyPr>
            <a:normAutofit fontScale="92500"/>
          </a:bodyPr>
          <a:lstStyle/>
          <a:p>
            <a:pPr marL="0" indent="0">
              <a:buNone/>
            </a:pPr>
            <a:r>
              <a:rPr lang="en-US" dirty="0"/>
              <a:t>At every iteration, each process must exchange halo data with its north/south/east/west neighbors.</a:t>
            </a:r>
          </a:p>
          <a:p>
            <a:pPr marL="0" indent="0">
              <a:buNone/>
            </a:pPr>
            <a:r>
              <a:rPr lang="en-US" dirty="0"/>
              <a:t>Problem: the grid is stored as a 1D row-major array</a:t>
            </a:r>
            <a:r>
              <a:rPr lang="en-US" b="1" dirty="0"/>
              <a:t>,</a:t>
            </a:r>
            <a:r>
              <a:rPr lang="en-US" dirty="0"/>
              <a:t> therefore </a:t>
            </a:r>
            <a:r>
              <a:rPr lang="en-US" b="1" dirty="0"/>
              <a:t>rows are contiguous in memory</a:t>
            </a:r>
            <a:r>
              <a:rPr lang="en-US" dirty="0"/>
              <a:t> while </a:t>
            </a:r>
            <a:r>
              <a:rPr lang="en-US" b="1" dirty="0"/>
              <a:t>columns are not</a:t>
            </a:r>
            <a:r>
              <a:rPr lang="en-US" dirty="0"/>
              <a:t>. So, halo exchange is implemented differently, to minimize unnecessary data copying:</a:t>
            </a:r>
          </a:p>
          <a:p>
            <a:r>
              <a:rPr lang="en-US" b="1" dirty="0"/>
              <a:t>North/South halos</a:t>
            </a:r>
            <a:r>
              <a:rPr lang="en-US" dirty="0"/>
              <a:t> are sent/received by using pointers directly into the grid (no packing needed)</a:t>
            </a:r>
          </a:p>
          <a:p>
            <a:r>
              <a:rPr lang="en-US" b="1" dirty="0"/>
              <a:t>East/West halos</a:t>
            </a:r>
            <a:r>
              <a:rPr lang="en-US" dirty="0"/>
              <a:t> require packing/unpacking, so dedicated </a:t>
            </a:r>
            <a:r>
              <a:rPr lang="en-US" b="1" dirty="0"/>
              <a:t>send/receive buffers</a:t>
            </a:r>
            <a:r>
              <a:rPr lang="en-US" dirty="0"/>
              <a:t> are used to copy the boundary columns before communication and to write the received values into the ghost columns.</a:t>
            </a:r>
          </a:p>
        </p:txBody>
      </p:sp>
    </p:spTree>
    <p:extLst>
      <p:ext uri="{BB962C8B-B14F-4D97-AF65-F5344CB8AC3E}">
        <p14:creationId xmlns:p14="http://schemas.microsoft.com/office/powerpoint/2010/main" val="2829952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5E374C-3CEE-CE67-4F29-90706101C47E}"/>
              </a:ext>
            </a:extLst>
          </p:cNvPr>
          <p:cNvSpPr>
            <a:spLocks noGrp="1"/>
          </p:cNvSpPr>
          <p:nvPr>
            <p:ph type="title"/>
          </p:nvPr>
        </p:nvSpPr>
        <p:spPr/>
        <p:txBody>
          <a:bodyPr>
            <a:normAutofit fontScale="90000"/>
          </a:bodyPr>
          <a:lstStyle/>
          <a:p>
            <a:r>
              <a:rPr lang="en-US" dirty="0"/>
              <a:t>Overlapping MPI communication and Computation </a:t>
            </a:r>
          </a:p>
        </p:txBody>
      </p:sp>
      <p:sp>
        <p:nvSpPr>
          <p:cNvPr id="3" name="Segnaposto contenuto 2">
            <a:extLst>
              <a:ext uri="{FF2B5EF4-FFF2-40B4-BE49-F238E27FC236}">
                <a16:creationId xmlns:a16="http://schemas.microsoft.com/office/drawing/2014/main" id="{E38D1C23-3907-B87D-6931-173274335563}"/>
              </a:ext>
            </a:extLst>
          </p:cNvPr>
          <p:cNvSpPr>
            <a:spLocks noGrp="1"/>
          </p:cNvSpPr>
          <p:nvPr>
            <p:ph idx="1"/>
          </p:nvPr>
        </p:nvSpPr>
        <p:spPr/>
        <p:txBody>
          <a:bodyPr>
            <a:normAutofit/>
          </a:bodyPr>
          <a:lstStyle/>
          <a:p>
            <a:pPr marL="0" indent="0">
              <a:buNone/>
            </a:pPr>
            <a:r>
              <a:rPr lang="en-US" dirty="0"/>
              <a:t>Halo communication is performed using </a:t>
            </a:r>
            <a:r>
              <a:rPr lang="en-US" b="1" dirty="0"/>
              <a:t>non-blocking MPI calls</a:t>
            </a:r>
            <a:r>
              <a:rPr lang="en-US" dirty="0"/>
              <a:t> (</a:t>
            </a:r>
            <a:r>
              <a:rPr lang="en-US" dirty="0" err="1"/>
              <a:t>MPI_Isend</a:t>
            </a:r>
            <a:r>
              <a:rPr lang="en-US" dirty="0"/>
              <a:t> / </a:t>
            </a:r>
            <a:r>
              <a:rPr lang="en-US" dirty="0" err="1"/>
              <a:t>MPI_Irecv</a:t>
            </a:r>
            <a:r>
              <a:rPr lang="en-US" dirty="0"/>
              <a:t>), that allows overlapping communication with computation, reducing communication overhead.</a:t>
            </a:r>
          </a:p>
          <a:p>
            <a:pPr marL="457200" indent="-457200">
              <a:buFont typeface="+mj-lt"/>
              <a:buAutoNum type="arabicPeriod"/>
            </a:pPr>
            <a:r>
              <a:rPr lang="en-US" dirty="0"/>
              <a:t>Post the communications: </a:t>
            </a:r>
            <a:r>
              <a:rPr lang="en-US" dirty="0" err="1"/>
              <a:t>MPI_Isend</a:t>
            </a:r>
            <a:r>
              <a:rPr lang="en-US" dirty="0"/>
              <a:t> / </a:t>
            </a:r>
            <a:r>
              <a:rPr lang="en-US" dirty="0" err="1"/>
              <a:t>MPI_Irecv</a:t>
            </a:r>
            <a:r>
              <a:rPr lang="en-US" dirty="0"/>
              <a:t> (master thread) </a:t>
            </a:r>
          </a:p>
          <a:p>
            <a:pPr marL="457200" indent="-457200">
              <a:buFont typeface="+mj-lt"/>
              <a:buAutoNum type="arabicPeriod"/>
            </a:pPr>
            <a:r>
              <a:rPr lang="en-US" dirty="0"/>
              <a:t>Compute internal stencil (OpenMP): it doesn’t depend on halo data</a:t>
            </a:r>
          </a:p>
          <a:p>
            <a:pPr marL="457200" indent="-457200">
              <a:buFont typeface="+mj-lt"/>
              <a:buAutoNum type="arabicPeriod"/>
            </a:pPr>
            <a:r>
              <a:rPr lang="en-US" dirty="0" err="1"/>
              <a:t>MPI_Waitall</a:t>
            </a:r>
            <a:r>
              <a:rPr lang="en-US" dirty="0"/>
              <a:t>: wait for communication completion </a:t>
            </a:r>
          </a:p>
          <a:p>
            <a:pPr marL="457200" indent="-457200">
              <a:buFont typeface="+mj-lt"/>
              <a:buAutoNum type="arabicPeriod"/>
            </a:pPr>
            <a:r>
              <a:rPr lang="en-US" dirty="0"/>
              <a:t>Copy E/W received halos into ghost columns</a:t>
            </a:r>
          </a:p>
          <a:p>
            <a:pPr marL="457200" indent="-457200">
              <a:buFont typeface="+mj-lt"/>
              <a:buAutoNum type="arabicPeriod"/>
            </a:pPr>
            <a:r>
              <a:rPr lang="en-US" dirty="0"/>
              <a:t>Compute boundary stencil (OpenMP): it requires ghost value</a:t>
            </a:r>
          </a:p>
          <a:p>
            <a:pPr marL="0" indent="0">
              <a:buNone/>
            </a:pPr>
            <a:endParaRPr lang="en-US" dirty="0"/>
          </a:p>
        </p:txBody>
      </p:sp>
    </p:spTree>
    <p:extLst>
      <p:ext uri="{BB962C8B-B14F-4D97-AF65-F5344CB8AC3E}">
        <p14:creationId xmlns:p14="http://schemas.microsoft.com/office/powerpoint/2010/main" val="2045303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B81334C0-9838-F3ED-C8FC-CE3EC82546B9}"/>
              </a:ext>
            </a:extLst>
          </p:cNvPr>
          <p:cNvSpPr>
            <a:spLocks noGrp="1"/>
          </p:cNvSpPr>
          <p:nvPr>
            <p:ph type="title"/>
          </p:nvPr>
        </p:nvSpPr>
        <p:spPr>
          <a:xfrm>
            <a:off x="1946564" y="1249217"/>
            <a:ext cx="8298873" cy="2258284"/>
          </a:xfrm>
        </p:spPr>
        <p:txBody>
          <a:bodyPr vert="horz" lIns="91440" tIns="45720" rIns="91440" bIns="45720" rtlCol="0" anchor="b">
            <a:normAutofit/>
          </a:bodyPr>
          <a:lstStyle/>
          <a:p>
            <a:pPr algn="ctr"/>
            <a:r>
              <a:rPr lang="en-US" sz="6600" dirty="0"/>
              <a:t>Scaling test</a:t>
            </a:r>
          </a:p>
        </p:txBody>
      </p:sp>
      <p:cxnSp>
        <p:nvCxnSpPr>
          <p:cNvPr id="22" name="Straight Connector 21">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1999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6A105D-F340-A600-99C5-EAA7CE2B4125}"/>
              </a:ext>
            </a:extLst>
          </p:cNvPr>
          <p:cNvSpPr>
            <a:spLocks noGrp="1"/>
          </p:cNvSpPr>
          <p:nvPr>
            <p:ph type="title"/>
          </p:nvPr>
        </p:nvSpPr>
        <p:spPr/>
        <p:txBody>
          <a:bodyPr/>
          <a:lstStyle/>
          <a:p>
            <a:r>
              <a:rPr lang="en-US" dirty="0"/>
              <a:t>Performance Tests</a:t>
            </a:r>
          </a:p>
        </p:txBody>
      </p:sp>
      <p:sp>
        <p:nvSpPr>
          <p:cNvPr id="3" name="Segnaposto contenuto 2">
            <a:extLst>
              <a:ext uri="{FF2B5EF4-FFF2-40B4-BE49-F238E27FC236}">
                <a16:creationId xmlns:a16="http://schemas.microsoft.com/office/drawing/2014/main" id="{E5216B9B-8E0F-713B-E1A3-6EAE22343606}"/>
              </a:ext>
            </a:extLst>
          </p:cNvPr>
          <p:cNvSpPr>
            <a:spLocks noGrp="1"/>
          </p:cNvSpPr>
          <p:nvPr>
            <p:ph idx="1"/>
          </p:nvPr>
        </p:nvSpPr>
        <p:spPr/>
        <p:txBody>
          <a:bodyPr>
            <a:normAutofit fontScale="77500" lnSpcReduction="20000"/>
          </a:bodyPr>
          <a:lstStyle/>
          <a:p>
            <a:pPr marL="0" indent="0">
              <a:buNone/>
            </a:pPr>
            <a:r>
              <a:rPr lang="en-US" dirty="0"/>
              <a:t>To evaluate the performance of the parallel implementation, 3 scaling tests were performed:</a:t>
            </a:r>
          </a:p>
          <a:p>
            <a:pPr marL="457200" indent="-457200">
              <a:buFont typeface="+mj-lt"/>
              <a:buAutoNum type="arabicPeriod"/>
            </a:pPr>
            <a:r>
              <a:rPr lang="en-US" dirty="0"/>
              <a:t>OpenMP Strong scaling:</a:t>
            </a:r>
          </a:p>
          <a:p>
            <a:pPr lvl="1"/>
            <a:r>
              <a:rPr lang="en-US" dirty="0"/>
              <a:t>Single MPI process</a:t>
            </a:r>
          </a:p>
          <a:p>
            <a:pPr lvl="1"/>
            <a:r>
              <a:rPr lang="en-US" dirty="0"/>
              <a:t>Increasing the number of threads: </a:t>
            </a:r>
            <a:r>
              <a:rPr lang="it-IT" dirty="0"/>
              <a:t>1, 2, 4, 8, 16, 32, 64, 112</a:t>
            </a:r>
            <a:endParaRPr lang="en-US" dirty="0"/>
          </a:p>
          <a:p>
            <a:pPr marL="457200" indent="-457200">
              <a:buFont typeface="+mj-lt"/>
              <a:buAutoNum type="arabicPeriod"/>
            </a:pPr>
            <a:r>
              <a:rPr lang="en-US" dirty="0"/>
              <a:t>MPI Strong scaling: </a:t>
            </a:r>
          </a:p>
          <a:p>
            <a:pPr lvl="1"/>
            <a:r>
              <a:rPr lang="en-US" dirty="0"/>
              <a:t>Global size remains fixed</a:t>
            </a:r>
          </a:p>
          <a:p>
            <a:pPr lvl="1"/>
            <a:r>
              <a:rPr lang="en-US" dirty="0"/>
              <a:t>Increasing the number of node: 1,  2, 4, 8, 16</a:t>
            </a:r>
          </a:p>
          <a:p>
            <a:pPr marL="457200" indent="-457200">
              <a:buFont typeface="+mj-lt"/>
              <a:buAutoNum type="arabicPeriod"/>
            </a:pPr>
            <a:r>
              <a:rPr lang="en-US" dirty="0"/>
              <a:t>MPI Weak scaling: </a:t>
            </a:r>
          </a:p>
          <a:p>
            <a:pPr lvl="1"/>
            <a:r>
              <a:rPr lang="en-US" dirty="0"/>
              <a:t>Fixed workload per node</a:t>
            </a:r>
          </a:p>
          <a:p>
            <a:pPr lvl="1"/>
            <a:r>
              <a:rPr lang="en-US" dirty="0"/>
              <a:t>problem size increases proportionally with the number of MPI processes</a:t>
            </a:r>
          </a:p>
          <a:p>
            <a:pPr marL="0" indent="0">
              <a:buNone/>
            </a:pPr>
            <a:r>
              <a:rPr lang="en-US" dirty="0"/>
              <a:t>For each test: total time, communication time and computation time were obtained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80078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694B6D7-E43D-46E6-B580-451ED13284B7}"/>
              </a:ext>
            </a:extLst>
          </p:cNvPr>
          <p:cNvSpPr>
            <a:spLocks noGrp="1"/>
          </p:cNvSpPr>
          <p:nvPr>
            <p:ph type="title"/>
          </p:nvPr>
        </p:nvSpPr>
        <p:spPr>
          <a:xfrm>
            <a:off x="640080" y="1371600"/>
            <a:ext cx="5737859" cy="1097280"/>
          </a:xfrm>
        </p:spPr>
        <p:txBody>
          <a:bodyPr>
            <a:normAutofit/>
          </a:bodyPr>
          <a:lstStyle/>
          <a:p>
            <a:pPr>
              <a:lnSpc>
                <a:spcPct val="90000"/>
              </a:lnSpc>
            </a:pPr>
            <a:r>
              <a:rPr lang="en-US" sz="3400"/>
              <a:t>OpenMP scaling: Execution Time</a:t>
            </a:r>
          </a:p>
        </p:txBody>
      </p:sp>
      <p:cxnSp>
        <p:nvCxnSpPr>
          <p:cNvPr id="21" name="Straight Connector 2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8CD3F5C8-17B5-B275-C2EA-4933FAE5CEEA}"/>
              </a:ext>
            </a:extLst>
          </p:cNvPr>
          <p:cNvSpPr>
            <a:spLocks noGrp="1"/>
          </p:cNvSpPr>
          <p:nvPr>
            <p:ph idx="1"/>
          </p:nvPr>
        </p:nvSpPr>
        <p:spPr>
          <a:xfrm>
            <a:off x="640080" y="2633236"/>
            <a:ext cx="5737860" cy="3666980"/>
          </a:xfrm>
        </p:spPr>
        <p:txBody>
          <a:bodyPr>
            <a:normAutofit/>
          </a:bodyPr>
          <a:lstStyle/>
          <a:p>
            <a:pPr marL="0" indent="0">
              <a:lnSpc>
                <a:spcPct val="110000"/>
              </a:lnSpc>
              <a:buNone/>
            </a:pPr>
            <a:r>
              <a:rPr lang="en-US" sz="1700" dirty="0"/>
              <a:t>The execution time decreases as the number of threads increases, showing that the stencil computation benefits from shared-memory parallelism.</a:t>
            </a:r>
          </a:p>
          <a:p>
            <a:pPr marL="0" indent="0">
              <a:lnSpc>
                <a:spcPct val="110000"/>
              </a:lnSpc>
              <a:buNone/>
            </a:pPr>
            <a:endParaRPr lang="en-US" sz="1700" dirty="0"/>
          </a:p>
          <a:p>
            <a:pPr marL="0" indent="0">
              <a:lnSpc>
                <a:spcPct val="110000"/>
              </a:lnSpc>
              <a:buNone/>
            </a:pPr>
            <a:endParaRPr lang="en-US" sz="1700" dirty="0"/>
          </a:p>
          <a:p>
            <a:pPr marL="0" indent="0">
              <a:lnSpc>
                <a:spcPct val="110000"/>
              </a:lnSpc>
              <a:buNone/>
            </a:pPr>
            <a:r>
              <a:rPr lang="en-US" sz="1700" dirty="0"/>
              <a:t>However, the improvement becomes progressively smaller because the application is </a:t>
            </a:r>
            <a:r>
              <a:rPr lang="en-US" sz="1700" b="1" dirty="0"/>
              <a:t>memory-bandwidth bound:</a:t>
            </a:r>
          </a:p>
          <a:p>
            <a:pPr marL="0" indent="0">
              <a:lnSpc>
                <a:spcPct val="110000"/>
              </a:lnSpc>
              <a:buNone/>
            </a:pPr>
            <a:r>
              <a:rPr lang="en-US" sz="1700" dirty="0"/>
              <a:t>As the number of threads increases, multiple cores compete for access to memory, limiting the achievable performance.</a:t>
            </a:r>
          </a:p>
        </p:txBody>
      </p:sp>
      <p:pic>
        <p:nvPicPr>
          <p:cNvPr id="9" name="Immagine 8" descr="Immagine che contiene testo, linea, Diagramma, diagramma&#10;&#10;Il contenuto generato dall'IA potrebbe non essere corretto.">
            <a:extLst>
              <a:ext uri="{FF2B5EF4-FFF2-40B4-BE49-F238E27FC236}">
                <a16:creationId xmlns:a16="http://schemas.microsoft.com/office/drawing/2014/main" id="{1819EEBC-1911-005B-D1E2-DC04C241D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1706032"/>
            <a:ext cx="5516886" cy="4137665"/>
          </a:xfrm>
          <a:prstGeom prst="rect">
            <a:avLst/>
          </a:prstGeom>
        </p:spPr>
      </p:pic>
    </p:spTree>
    <p:extLst>
      <p:ext uri="{BB962C8B-B14F-4D97-AF65-F5344CB8AC3E}">
        <p14:creationId xmlns:p14="http://schemas.microsoft.com/office/powerpoint/2010/main" val="209845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97CF48A-24B8-086B-1197-D46B79426607}"/>
              </a:ext>
            </a:extLst>
          </p:cNvPr>
          <p:cNvSpPr>
            <a:spLocks noGrp="1"/>
          </p:cNvSpPr>
          <p:nvPr>
            <p:ph type="title"/>
          </p:nvPr>
        </p:nvSpPr>
        <p:spPr>
          <a:xfrm>
            <a:off x="640079" y="1371600"/>
            <a:ext cx="6382512" cy="1097280"/>
          </a:xfrm>
        </p:spPr>
        <p:txBody>
          <a:bodyPr>
            <a:normAutofit/>
          </a:bodyPr>
          <a:lstStyle/>
          <a:p>
            <a:pPr>
              <a:lnSpc>
                <a:spcPct val="90000"/>
              </a:lnSpc>
            </a:pPr>
            <a:r>
              <a:rPr lang="en-US" sz="3400"/>
              <a:t>OpenMP scaling: Speedup and Efficiency</a:t>
            </a:r>
          </a:p>
        </p:txBody>
      </p:sp>
      <p:cxnSp>
        <p:nvCxnSpPr>
          <p:cNvPr id="14" name="Straight Connector 13">
            <a:extLst>
              <a:ext uri="{FF2B5EF4-FFF2-40B4-BE49-F238E27FC236}">
                <a16:creationId xmlns:a16="http://schemas.microsoft.com/office/drawing/2014/main" id="{A1DB5636-7209-441D-A20B-2A24C54D5C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2C62CBE3-FCDD-A355-C440-7A9BA7489FC8}"/>
              </a:ext>
            </a:extLst>
          </p:cNvPr>
          <p:cNvSpPr>
            <a:spLocks noGrp="1"/>
          </p:cNvSpPr>
          <p:nvPr>
            <p:ph idx="1"/>
          </p:nvPr>
        </p:nvSpPr>
        <p:spPr>
          <a:xfrm>
            <a:off x="640079" y="2633236"/>
            <a:ext cx="6382512" cy="3664681"/>
          </a:xfrm>
        </p:spPr>
        <p:txBody>
          <a:bodyPr>
            <a:normAutofit fontScale="92500" lnSpcReduction="20000"/>
          </a:bodyPr>
          <a:lstStyle/>
          <a:p>
            <a:pPr marL="0" indent="0">
              <a:lnSpc>
                <a:spcPct val="110000"/>
              </a:lnSpc>
              <a:buNone/>
            </a:pPr>
            <a:r>
              <a:rPr lang="en-US" sz="1600" b="1" dirty="0"/>
              <a:t>Speedup</a:t>
            </a:r>
            <a:r>
              <a:rPr lang="en-US" sz="1600" dirty="0"/>
              <a:t>: grows with the number of threads but deviates from the ideal linear scaling;</a:t>
            </a:r>
            <a:br>
              <a:rPr lang="en-US" sz="1600" dirty="0"/>
            </a:br>
            <a:r>
              <a:rPr lang="en-US" sz="1600" b="1" dirty="0"/>
              <a:t>Efficiency</a:t>
            </a:r>
            <a:r>
              <a:rPr lang="en-US" sz="1600" dirty="0"/>
              <a:t>: decreases as more threads are used.</a:t>
            </a:r>
          </a:p>
          <a:p>
            <a:pPr marL="0" indent="0">
              <a:lnSpc>
                <a:spcPct val="110000"/>
              </a:lnSpc>
              <a:buNone/>
            </a:pPr>
            <a:endParaRPr lang="en-US" sz="1600" dirty="0"/>
          </a:p>
          <a:p>
            <a:pPr>
              <a:lnSpc>
                <a:spcPct val="110000"/>
              </a:lnSpc>
            </a:pPr>
            <a:r>
              <a:rPr lang="en-US" sz="1600" b="1" dirty="0"/>
              <a:t>Memory bandwidth saturation</a:t>
            </a:r>
            <a:r>
              <a:rPr lang="en-US" sz="1600" dirty="0"/>
              <a:t>: as the number of threads increases, multiple cores compete for access to the same memory subsystem;</a:t>
            </a:r>
          </a:p>
          <a:p>
            <a:pPr>
              <a:lnSpc>
                <a:spcPct val="110000"/>
              </a:lnSpc>
            </a:pPr>
            <a:r>
              <a:rPr lang="en-US" sz="1600" b="1" dirty="0"/>
              <a:t>NUMA regions:</a:t>
            </a:r>
            <a:r>
              <a:rPr lang="en-US" sz="1600" dirty="0"/>
              <a:t> When the thread count exceeds the physical cores of a single NUMA node, the workload is distributed across multiple regions. For memory-bound problems, this transition allows threads to utilize parallel memory channels.</a:t>
            </a:r>
          </a:p>
          <a:p>
            <a:pPr marL="0" indent="0">
              <a:lnSpc>
                <a:spcPct val="110000"/>
              </a:lnSpc>
              <a:buNone/>
            </a:pPr>
            <a:r>
              <a:rPr lang="en-US" sz="1600" dirty="0"/>
              <a:t>Thread affinity was controlled using OMP_PROC_BIND=close, which keeps threads within the same NUMA region to improve memory locality. However, once memory bandwidth becomes saturated, the scaling. behavior remains limited.</a:t>
            </a:r>
          </a:p>
        </p:txBody>
      </p:sp>
      <p:pic>
        <p:nvPicPr>
          <p:cNvPr id="7" name="Immagine 6" descr="Immagine che contiene testo, linea, Diagramma, diagramma&#10;&#10;Il contenuto generato dall'IA potrebbe non essere corretto.">
            <a:extLst>
              <a:ext uri="{FF2B5EF4-FFF2-40B4-BE49-F238E27FC236}">
                <a16:creationId xmlns:a16="http://schemas.microsoft.com/office/drawing/2014/main" id="{F83CFFFD-0862-4579-4665-391BFD544903}"/>
              </a:ext>
            </a:extLst>
          </p:cNvPr>
          <p:cNvPicPr>
            <a:picLocks noChangeAspect="1"/>
          </p:cNvPicPr>
          <p:nvPr/>
        </p:nvPicPr>
        <p:blipFill>
          <a:blip r:embed="rId2">
            <a:extLst>
              <a:ext uri="{28A0092B-C50C-407E-A947-70E740481C1C}">
                <a14:useLocalDpi xmlns:a14="http://schemas.microsoft.com/office/drawing/2010/main" val="0"/>
              </a:ext>
            </a:extLst>
          </a:blip>
          <a:srcRect l="2161" r="2006"/>
          <a:stretch>
            <a:fillRect/>
          </a:stretch>
        </p:blipFill>
        <p:spPr>
          <a:xfrm>
            <a:off x="7810504" y="1"/>
            <a:ext cx="4381494" cy="3429000"/>
          </a:xfrm>
          <a:prstGeom prst="rect">
            <a:avLst/>
          </a:prstGeom>
        </p:spPr>
      </p:pic>
      <p:pic>
        <p:nvPicPr>
          <p:cNvPr id="4" name="Immagine 3" descr="Immagine che contiene linea, testo, diagramma, Diagramma&#10;&#10;Il contenuto generato dall'IA potrebbe non essere corretto.">
            <a:extLst>
              <a:ext uri="{FF2B5EF4-FFF2-40B4-BE49-F238E27FC236}">
                <a16:creationId xmlns:a16="http://schemas.microsoft.com/office/drawing/2014/main" id="{15130364-CEF8-6615-204D-00770A115C63}"/>
              </a:ext>
            </a:extLst>
          </p:cNvPr>
          <p:cNvPicPr>
            <a:picLocks noChangeAspect="1"/>
          </p:cNvPicPr>
          <p:nvPr/>
        </p:nvPicPr>
        <p:blipFill>
          <a:blip r:embed="rId3">
            <a:extLst>
              <a:ext uri="{28A0092B-C50C-407E-A947-70E740481C1C}">
                <a14:useLocalDpi xmlns:a14="http://schemas.microsoft.com/office/drawing/2010/main" val="0"/>
              </a:ext>
            </a:extLst>
          </a:blip>
          <a:srcRect l="2721" r="1446"/>
          <a:stretch>
            <a:fillRect/>
          </a:stretch>
        </p:blipFill>
        <p:spPr>
          <a:xfrm>
            <a:off x="7810505" y="3429000"/>
            <a:ext cx="4381494" cy="3429000"/>
          </a:xfrm>
          <a:prstGeom prst="rect">
            <a:avLst/>
          </a:prstGeom>
        </p:spPr>
      </p:pic>
    </p:spTree>
    <p:extLst>
      <p:ext uri="{BB962C8B-B14F-4D97-AF65-F5344CB8AC3E}">
        <p14:creationId xmlns:p14="http://schemas.microsoft.com/office/powerpoint/2010/main" val="2024320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5EE79A-2EAF-8BD6-713E-D2B4C11859B7}"/>
              </a:ext>
            </a:extLst>
          </p:cNvPr>
          <p:cNvSpPr>
            <a:spLocks noGrp="1"/>
          </p:cNvSpPr>
          <p:nvPr>
            <p:ph type="title"/>
          </p:nvPr>
        </p:nvSpPr>
        <p:spPr/>
        <p:txBody>
          <a:bodyPr/>
          <a:lstStyle/>
          <a:p>
            <a:r>
              <a:rPr lang="en-US" dirty="0"/>
              <a:t>MPI Setup</a:t>
            </a:r>
          </a:p>
        </p:txBody>
      </p:sp>
      <p:sp>
        <p:nvSpPr>
          <p:cNvPr id="3" name="Segnaposto contenuto 2">
            <a:extLst>
              <a:ext uri="{FF2B5EF4-FFF2-40B4-BE49-F238E27FC236}">
                <a16:creationId xmlns:a16="http://schemas.microsoft.com/office/drawing/2014/main" id="{99BE63A7-33B1-F4B0-1D90-98E22343D732}"/>
              </a:ext>
            </a:extLst>
          </p:cNvPr>
          <p:cNvSpPr>
            <a:spLocks noGrp="1"/>
          </p:cNvSpPr>
          <p:nvPr>
            <p:ph idx="1"/>
          </p:nvPr>
        </p:nvSpPr>
        <p:spPr/>
        <p:txBody>
          <a:bodyPr>
            <a:normAutofit/>
          </a:bodyPr>
          <a:lstStyle/>
          <a:p>
            <a:pPr marL="0" indent="0">
              <a:buNone/>
            </a:pPr>
            <a:r>
              <a:rPr lang="en-US" dirty="0"/>
              <a:t>The NUMA architecture was also considered when designing the MPI configuration. Since each node contains 8 NUMA regions and each region provides 14 cores, it is used the following hybrid configuration:</a:t>
            </a:r>
          </a:p>
          <a:p>
            <a:r>
              <a:rPr lang="en-US" dirty="0"/>
              <a:t>TASKS_PER_NODE = 8</a:t>
            </a:r>
          </a:p>
          <a:p>
            <a:r>
              <a:rPr lang="en-US" dirty="0"/>
              <a:t>CPUS_PER_TASK = 14</a:t>
            </a:r>
          </a:p>
          <a:p>
            <a:pPr marL="0" indent="0">
              <a:buNone/>
            </a:pPr>
            <a:r>
              <a:rPr lang="en-US" dirty="0"/>
              <a:t>This setup assigns one MPI process to each NUMA region, while OpenMP threads exploit the cores within that region. This mapping improves memory locality, reduces remote NUMA memory accesses, and therefore lowers memory access latency and overhead.</a:t>
            </a:r>
          </a:p>
        </p:txBody>
      </p:sp>
    </p:spTree>
    <p:extLst>
      <p:ext uri="{BB962C8B-B14F-4D97-AF65-F5344CB8AC3E}">
        <p14:creationId xmlns:p14="http://schemas.microsoft.com/office/powerpoint/2010/main" val="3841143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CEB183E-2C1C-22B5-170E-29DB3D24603E}"/>
              </a:ext>
            </a:extLst>
          </p:cNvPr>
          <p:cNvSpPr>
            <a:spLocks noGrp="1"/>
          </p:cNvSpPr>
          <p:nvPr>
            <p:ph type="title"/>
          </p:nvPr>
        </p:nvSpPr>
        <p:spPr>
          <a:xfrm>
            <a:off x="640080" y="1371600"/>
            <a:ext cx="5737859" cy="1097280"/>
          </a:xfrm>
        </p:spPr>
        <p:txBody>
          <a:bodyPr>
            <a:normAutofit/>
          </a:bodyPr>
          <a:lstStyle/>
          <a:p>
            <a:pPr>
              <a:lnSpc>
                <a:spcPct val="90000"/>
              </a:lnSpc>
            </a:pPr>
            <a:r>
              <a:rPr lang="en-US" sz="3400" dirty="0"/>
              <a:t>MPI Strong scaling: Execution Time</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8132498B-460C-4859-3E32-BC9907A68F08}"/>
              </a:ext>
            </a:extLst>
          </p:cNvPr>
          <p:cNvSpPr>
            <a:spLocks noGrp="1"/>
          </p:cNvSpPr>
          <p:nvPr>
            <p:ph idx="1"/>
          </p:nvPr>
        </p:nvSpPr>
        <p:spPr>
          <a:xfrm>
            <a:off x="640080" y="2633236"/>
            <a:ext cx="6049478" cy="3061711"/>
          </a:xfrm>
        </p:spPr>
        <p:txBody>
          <a:bodyPr>
            <a:normAutofit/>
          </a:bodyPr>
          <a:lstStyle/>
          <a:p>
            <a:pPr marL="0" indent="0">
              <a:lnSpc>
                <a:spcPct val="110000"/>
              </a:lnSpc>
              <a:buNone/>
            </a:pPr>
            <a:r>
              <a:rPr lang="en-US" sz="1700" dirty="0"/>
              <a:t>Strong scaling evaluates how the execution time decreases when increasing the number of computing resources while keeping the </a:t>
            </a:r>
            <a:r>
              <a:rPr lang="en-US" sz="1700" b="1" dirty="0"/>
              <a:t>global problem size fixed</a:t>
            </a:r>
            <a:r>
              <a:rPr lang="en-US" sz="1700" dirty="0"/>
              <a:t>.</a:t>
            </a:r>
          </a:p>
          <a:p>
            <a:pPr marL="0" indent="0">
              <a:lnSpc>
                <a:spcPct val="110000"/>
              </a:lnSpc>
              <a:buNone/>
            </a:pPr>
            <a:r>
              <a:rPr lang="en-US" sz="1700" dirty="0"/>
              <a:t>It measures how efficiently the workload can be distributed across multiple nodes.</a:t>
            </a:r>
          </a:p>
          <a:p>
            <a:pPr marL="0" indent="0">
              <a:lnSpc>
                <a:spcPct val="110000"/>
              </a:lnSpc>
              <a:buNone/>
            </a:pPr>
            <a:endParaRPr lang="en-US" sz="1700" dirty="0"/>
          </a:p>
          <a:p>
            <a:pPr marL="0" indent="0">
              <a:lnSpc>
                <a:spcPct val="110000"/>
              </a:lnSpc>
              <a:buNone/>
            </a:pPr>
            <a:r>
              <a:rPr lang="en-US" sz="1700" dirty="0"/>
              <a:t>The execution time decreases significantly: the computation time decreases almost proportionally with the number of nodes, and the communication overhead is limited.</a:t>
            </a:r>
          </a:p>
        </p:txBody>
      </p:sp>
      <p:pic>
        <p:nvPicPr>
          <p:cNvPr id="5" name="Immagine 4" descr="Immagine che contiene testo, linea, diagramma, Diagramma&#10;&#10;Il contenuto generato dall'IA potrebbe non essere corretto.">
            <a:extLst>
              <a:ext uri="{FF2B5EF4-FFF2-40B4-BE49-F238E27FC236}">
                <a16:creationId xmlns:a16="http://schemas.microsoft.com/office/drawing/2014/main" id="{01B7ABB3-E2FA-6B2B-290E-7FC7A08314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7939" y="1730127"/>
            <a:ext cx="5666499" cy="4303393"/>
          </a:xfrm>
          <a:prstGeom prst="rect">
            <a:avLst/>
          </a:prstGeom>
        </p:spPr>
      </p:pic>
    </p:spTree>
    <p:extLst>
      <p:ext uri="{BB962C8B-B14F-4D97-AF65-F5344CB8AC3E}">
        <p14:creationId xmlns:p14="http://schemas.microsoft.com/office/powerpoint/2010/main" val="3933591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1AFBBAA-AD67-469A-5C52-53D9FE4077CA}"/>
              </a:ext>
            </a:extLst>
          </p:cNvPr>
          <p:cNvSpPr>
            <a:spLocks noGrp="1"/>
          </p:cNvSpPr>
          <p:nvPr>
            <p:ph type="title"/>
          </p:nvPr>
        </p:nvSpPr>
        <p:spPr>
          <a:xfrm>
            <a:off x="640079" y="1371600"/>
            <a:ext cx="6382512" cy="1097280"/>
          </a:xfrm>
        </p:spPr>
        <p:txBody>
          <a:bodyPr>
            <a:normAutofit/>
          </a:bodyPr>
          <a:lstStyle/>
          <a:p>
            <a:pPr>
              <a:lnSpc>
                <a:spcPct val="90000"/>
              </a:lnSpc>
            </a:pPr>
            <a:r>
              <a:rPr lang="en-US" sz="3400"/>
              <a:t>MPI Strong scaling: Speedup and Efficiency</a:t>
            </a:r>
          </a:p>
        </p:txBody>
      </p:sp>
      <p:cxnSp>
        <p:nvCxnSpPr>
          <p:cNvPr id="17" name="Straight Connector 13">
            <a:extLst>
              <a:ext uri="{FF2B5EF4-FFF2-40B4-BE49-F238E27FC236}">
                <a16:creationId xmlns:a16="http://schemas.microsoft.com/office/drawing/2014/main" id="{A1DB5636-7209-441D-A20B-2A24C54D5C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F8BFE440-4E4F-73EF-060B-257FE6B84FBC}"/>
              </a:ext>
            </a:extLst>
          </p:cNvPr>
          <p:cNvSpPr>
            <a:spLocks noGrp="1"/>
          </p:cNvSpPr>
          <p:nvPr>
            <p:ph idx="1"/>
          </p:nvPr>
        </p:nvSpPr>
        <p:spPr>
          <a:xfrm>
            <a:off x="640079" y="2633236"/>
            <a:ext cx="6382512" cy="3664681"/>
          </a:xfrm>
        </p:spPr>
        <p:txBody>
          <a:bodyPr>
            <a:normAutofit fontScale="92500" lnSpcReduction="10000"/>
          </a:bodyPr>
          <a:lstStyle/>
          <a:p>
            <a:pPr marL="0" indent="0">
              <a:buNone/>
            </a:pPr>
            <a:r>
              <a:rPr lang="en-US" b="1" dirty="0"/>
              <a:t>Speedup</a:t>
            </a:r>
            <a:r>
              <a:rPr lang="en-US" dirty="0"/>
              <a:t>: follows closely the ideal linear scaling and even shows a slightly </a:t>
            </a:r>
            <a:r>
              <a:rPr lang="en-US" b="1" dirty="0" err="1"/>
              <a:t>superlinear</a:t>
            </a:r>
            <a:r>
              <a:rPr lang="en-US" b="1" dirty="0"/>
              <a:t> behavior</a:t>
            </a:r>
            <a:r>
              <a:rPr lang="en-US" dirty="0"/>
              <a:t> at higher node counts;</a:t>
            </a:r>
          </a:p>
          <a:p>
            <a:pPr marL="0" indent="0">
              <a:buNone/>
            </a:pPr>
            <a:r>
              <a:rPr lang="en-US" b="1" dirty="0" err="1"/>
              <a:t>Efficency</a:t>
            </a:r>
            <a:r>
              <a:rPr lang="en-US" dirty="0"/>
              <a:t>: remains close to 1, so the workload is well balanced.</a:t>
            </a:r>
          </a:p>
          <a:p>
            <a:pPr marL="0" indent="0">
              <a:buNone/>
            </a:pPr>
            <a:endParaRPr lang="en-US" dirty="0"/>
          </a:p>
          <a:p>
            <a:r>
              <a:rPr lang="en-US" b="1" dirty="0"/>
              <a:t>cache utilization</a:t>
            </a:r>
            <a:r>
              <a:rPr lang="en-US" dirty="0"/>
              <a:t>: when the domain is distributed across more nodes, each process works on a smaller portion of the grid, allowing a larger fraction of the data to fit into the caches and reducing memory accesses.</a:t>
            </a:r>
          </a:p>
          <a:p>
            <a:pPr marL="0" indent="0">
              <a:buNone/>
            </a:pPr>
            <a:endParaRPr lang="en-US" dirty="0"/>
          </a:p>
        </p:txBody>
      </p:sp>
      <p:pic>
        <p:nvPicPr>
          <p:cNvPr id="7" name="Immagine 6" descr="Immagine che contiene testo, linea, Diagramma, diagramma&#10;&#10;Il contenuto generato dall'IA potrebbe non essere corretto.">
            <a:extLst>
              <a:ext uri="{FF2B5EF4-FFF2-40B4-BE49-F238E27FC236}">
                <a16:creationId xmlns:a16="http://schemas.microsoft.com/office/drawing/2014/main" id="{50C6AF3A-07FF-6D9B-3F86-55DC247AF696}"/>
              </a:ext>
            </a:extLst>
          </p:cNvPr>
          <p:cNvPicPr>
            <a:picLocks noChangeAspect="1"/>
          </p:cNvPicPr>
          <p:nvPr/>
        </p:nvPicPr>
        <p:blipFill>
          <a:blip r:embed="rId2">
            <a:extLst>
              <a:ext uri="{28A0092B-C50C-407E-A947-70E740481C1C}">
                <a14:useLocalDpi xmlns:a14="http://schemas.microsoft.com/office/drawing/2010/main" val="0"/>
              </a:ext>
            </a:extLst>
          </a:blip>
          <a:srcRect l="2132" r="2034"/>
          <a:stretch>
            <a:fillRect/>
          </a:stretch>
        </p:blipFill>
        <p:spPr>
          <a:xfrm>
            <a:off x="7810504" y="1"/>
            <a:ext cx="4381494" cy="3429000"/>
          </a:xfrm>
          <a:prstGeom prst="rect">
            <a:avLst/>
          </a:prstGeom>
        </p:spPr>
      </p:pic>
      <p:pic>
        <p:nvPicPr>
          <p:cNvPr id="5" name="Immagine 4" descr="Immagine che contiene testo, linea, Diagramma, diagramma&#10;&#10;Il contenuto generato dall'IA potrebbe non essere corretto.">
            <a:extLst>
              <a:ext uri="{FF2B5EF4-FFF2-40B4-BE49-F238E27FC236}">
                <a16:creationId xmlns:a16="http://schemas.microsoft.com/office/drawing/2014/main" id="{46D21A94-D735-4AD6-EB83-A8EB35961F92}"/>
              </a:ext>
            </a:extLst>
          </p:cNvPr>
          <p:cNvPicPr>
            <a:picLocks noChangeAspect="1"/>
          </p:cNvPicPr>
          <p:nvPr/>
        </p:nvPicPr>
        <p:blipFill>
          <a:blip r:embed="rId3">
            <a:extLst>
              <a:ext uri="{28A0092B-C50C-407E-A947-70E740481C1C}">
                <a14:useLocalDpi xmlns:a14="http://schemas.microsoft.com/office/drawing/2010/main" val="0"/>
              </a:ext>
            </a:extLst>
          </a:blip>
          <a:srcRect l="3117" r="1049"/>
          <a:stretch>
            <a:fillRect/>
          </a:stretch>
        </p:blipFill>
        <p:spPr>
          <a:xfrm>
            <a:off x="7810505" y="3429000"/>
            <a:ext cx="4381494" cy="3429000"/>
          </a:xfrm>
          <a:prstGeom prst="rect">
            <a:avLst/>
          </a:prstGeom>
        </p:spPr>
      </p:pic>
    </p:spTree>
    <p:extLst>
      <p:ext uri="{BB962C8B-B14F-4D97-AF65-F5344CB8AC3E}">
        <p14:creationId xmlns:p14="http://schemas.microsoft.com/office/powerpoint/2010/main" val="3369795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FF9621-F1EA-8BE8-96C0-F65D2DCC28B5}"/>
              </a:ext>
            </a:extLst>
          </p:cNvPr>
          <p:cNvSpPr>
            <a:spLocks noGrp="1"/>
          </p:cNvSpPr>
          <p:nvPr>
            <p:ph type="title"/>
          </p:nvPr>
        </p:nvSpPr>
        <p:spPr/>
        <p:txBody>
          <a:bodyPr/>
          <a:lstStyle/>
          <a:p>
            <a:r>
              <a:rPr lang="en-US" dirty="0"/>
              <a:t>MPI Weak Scaling: details</a:t>
            </a:r>
          </a:p>
        </p:txBody>
      </p:sp>
      <p:sp>
        <p:nvSpPr>
          <p:cNvPr id="3" name="Segnaposto contenuto 2">
            <a:extLst>
              <a:ext uri="{FF2B5EF4-FFF2-40B4-BE49-F238E27FC236}">
                <a16:creationId xmlns:a16="http://schemas.microsoft.com/office/drawing/2014/main" id="{DD445E52-90E4-EFDF-2144-0BF92E64D9B0}"/>
              </a:ext>
            </a:extLst>
          </p:cNvPr>
          <p:cNvSpPr>
            <a:spLocks noGrp="1"/>
          </p:cNvSpPr>
          <p:nvPr>
            <p:ph idx="1"/>
          </p:nvPr>
        </p:nvSpPr>
        <p:spPr/>
        <p:txBody>
          <a:bodyPr/>
          <a:lstStyle/>
          <a:p>
            <a:pPr marL="0" indent="0">
              <a:buNone/>
            </a:pPr>
            <a:r>
              <a:rPr lang="en-US" dirty="0"/>
              <a:t>In the weak scaling experiments, the workload per process is kept constant while the global problem size increases proportionally to the number of nodes. </a:t>
            </a:r>
          </a:p>
          <a:p>
            <a:pPr marL="0" indent="0">
              <a:buNone/>
            </a:pPr>
            <a:r>
              <a:rPr lang="en-US" dirty="0"/>
              <a:t>Grid dimensions are chosen as </a:t>
            </a:r>
            <a:r>
              <a:rPr lang="en-US" b="1" dirty="0"/>
              <a:t>powers of two</a:t>
            </a:r>
            <a:r>
              <a:rPr lang="en-US" dirty="0"/>
              <a:t> to simplify domain decomposition and ensure balanced partitions.</a:t>
            </a:r>
          </a:p>
          <a:p>
            <a:r>
              <a:rPr lang="en-US" dirty="0"/>
              <a:t>The simulation starts from a base grid of </a:t>
            </a:r>
            <a:r>
              <a:rPr lang="en-US" b="1" dirty="0"/>
              <a:t>8192 × 8192</a:t>
            </a:r>
          </a:p>
          <a:p>
            <a:r>
              <a:rPr lang="en-US" dirty="0"/>
              <a:t>As the number of nodes increases, the grid is expanded </a:t>
            </a:r>
            <a:r>
              <a:rPr lang="en-US" b="1" dirty="0"/>
              <a:t>alternately along the two axes: t</a:t>
            </a:r>
            <a:r>
              <a:rPr lang="en-US" dirty="0"/>
              <a:t>his keeps the domain </a:t>
            </a:r>
            <a:r>
              <a:rPr lang="en-US" b="1" dirty="0"/>
              <a:t>close to a square shape</a:t>
            </a:r>
            <a:r>
              <a:rPr lang="en-US" dirty="0"/>
              <a:t>, maintaining a balanced aspect ratio.</a:t>
            </a:r>
          </a:p>
        </p:txBody>
      </p:sp>
    </p:spTree>
    <p:extLst>
      <p:ext uri="{BB962C8B-B14F-4D97-AF65-F5344CB8AC3E}">
        <p14:creationId xmlns:p14="http://schemas.microsoft.com/office/powerpoint/2010/main" val="4197280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8AA4473-0612-E094-63B3-0B65BD0BAEB0}"/>
              </a:ext>
            </a:extLst>
          </p:cNvPr>
          <p:cNvSpPr>
            <a:spLocks noGrp="1"/>
          </p:cNvSpPr>
          <p:nvPr>
            <p:ph type="title"/>
          </p:nvPr>
        </p:nvSpPr>
        <p:spPr>
          <a:xfrm>
            <a:off x="640079" y="1371600"/>
            <a:ext cx="6382512" cy="1097280"/>
          </a:xfrm>
        </p:spPr>
        <p:txBody>
          <a:bodyPr>
            <a:normAutofit/>
          </a:bodyPr>
          <a:lstStyle/>
          <a:p>
            <a:pPr>
              <a:lnSpc>
                <a:spcPct val="90000"/>
              </a:lnSpc>
            </a:pPr>
            <a:r>
              <a:rPr lang="en-US" sz="3400" dirty="0"/>
              <a:t>MPI Weak scaling: </a:t>
            </a:r>
            <a:br>
              <a:rPr lang="en-US" sz="3400" dirty="0"/>
            </a:br>
            <a:r>
              <a:rPr lang="en-US" sz="3400" dirty="0"/>
              <a:t>Execution Time and Efficiency </a:t>
            </a:r>
          </a:p>
        </p:txBody>
      </p:sp>
      <p:cxnSp>
        <p:nvCxnSpPr>
          <p:cNvPr id="15" name="Straight Connector 14">
            <a:extLst>
              <a:ext uri="{FF2B5EF4-FFF2-40B4-BE49-F238E27FC236}">
                <a16:creationId xmlns:a16="http://schemas.microsoft.com/office/drawing/2014/main" id="{A1DB5636-7209-441D-A20B-2A24C54D5C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6ECA0D8F-DC8B-FB75-0EA4-2925D5C951B0}"/>
              </a:ext>
            </a:extLst>
          </p:cNvPr>
          <p:cNvSpPr>
            <a:spLocks noGrp="1"/>
          </p:cNvSpPr>
          <p:nvPr>
            <p:ph idx="1"/>
          </p:nvPr>
        </p:nvSpPr>
        <p:spPr>
          <a:xfrm>
            <a:off x="640079" y="2633236"/>
            <a:ext cx="6382512" cy="3664681"/>
          </a:xfrm>
        </p:spPr>
        <p:txBody>
          <a:bodyPr>
            <a:normAutofit/>
          </a:bodyPr>
          <a:lstStyle/>
          <a:p>
            <a:pPr marL="0" indent="0">
              <a:lnSpc>
                <a:spcPct val="110000"/>
              </a:lnSpc>
              <a:buNone/>
            </a:pPr>
            <a:r>
              <a:rPr lang="en-US" b="1" dirty="0"/>
              <a:t>Execution time</a:t>
            </a:r>
            <a:r>
              <a:rPr lang="en-US" dirty="0"/>
              <a:t>: remains approximately constant as the number of nodes increases. </a:t>
            </a:r>
          </a:p>
          <a:p>
            <a:pPr marL="0" indent="0">
              <a:lnSpc>
                <a:spcPct val="110000"/>
              </a:lnSpc>
              <a:buNone/>
            </a:pPr>
            <a:r>
              <a:rPr lang="en-US" b="1" dirty="0"/>
              <a:t>Efficiency</a:t>
            </a:r>
            <a:r>
              <a:rPr lang="en-US" dirty="0"/>
              <a:t>: stays close to </a:t>
            </a:r>
            <a:r>
              <a:rPr lang="en-US" b="1" dirty="0"/>
              <a:t>1</a:t>
            </a:r>
            <a:r>
              <a:rPr lang="en-US" dirty="0"/>
              <a:t>, indicating good scalability of the application.</a:t>
            </a:r>
          </a:p>
          <a:p>
            <a:pPr marL="0" indent="0">
              <a:lnSpc>
                <a:spcPct val="110000"/>
              </a:lnSpc>
              <a:buNone/>
            </a:pPr>
            <a:endParaRPr lang="en-US" dirty="0"/>
          </a:p>
          <a:p>
            <a:pPr>
              <a:lnSpc>
                <a:spcPct val="110000"/>
              </a:lnSpc>
            </a:pPr>
            <a:r>
              <a:rPr lang="en-US" dirty="0"/>
              <a:t>The behavior is expected, since each MPI process handles a similar local domain size;</a:t>
            </a:r>
          </a:p>
          <a:p>
            <a:pPr>
              <a:lnSpc>
                <a:spcPct val="110000"/>
              </a:lnSpc>
            </a:pPr>
            <a:r>
              <a:rPr lang="en-US" dirty="0"/>
              <a:t>Small fluctuations may be caused by system noise, runtime variability, or compiler optimizations.</a:t>
            </a:r>
          </a:p>
          <a:p>
            <a:pPr marL="0" indent="0">
              <a:lnSpc>
                <a:spcPct val="110000"/>
              </a:lnSpc>
              <a:buNone/>
            </a:pPr>
            <a:endParaRPr lang="en-US" dirty="0"/>
          </a:p>
        </p:txBody>
      </p:sp>
      <p:pic>
        <p:nvPicPr>
          <p:cNvPr id="5" name="Immagine 4" descr="Immagine che contiene testo, linea, Diagramma, schermata&#10;&#10;Il contenuto generato dall'IA potrebbe non essere corretto.">
            <a:extLst>
              <a:ext uri="{FF2B5EF4-FFF2-40B4-BE49-F238E27FC236}">
                <a16:creationId xmlns:a16="http://schemas.microsoft.com/office/drawing/2014/main" id="{9FB5FC80-2721-1A0E-185E-4D84EBB542B4}"/>
              </a:ext>
            </a:extLst>
          </p:cNvPr>
          <p:cNvPicPr>
            <a:picLocks noChangeAspect="1"/>
          </p:cNvPicPr>
          <p:nvPr/>
        </p:nvPicPr>
        <p:blipFill>
          <a:blip r:embed="rId2">
            <a:extLst>
              <a:ext uri="{28A0092B-C50C-407E-A947-70E740481C1C}">
                <a14:useLocalDpi xmlns:a14="http://schemas.microsoft.com/office/drawing/2010/main" val="0"/>
              </a:ext>
            </a:extLst>
          </a:blip>
          <a:srcRect l="2583" r="1584"/>
          <a:stretch>
            <a:fillRect/>
          </a:stretch>
        </p:blipFill>
        <p:spPr>
          <a:xfrm>
            <a:off x="7810504" y="1"/>
            <a:ext cx="4381494" cy="3429000"/>
          </a:xfrm>
          <a:prstGeom prst="rect">
            <a:avLst/>
          </a:prstGeom>
        </p:spPr>
      </p:pic>
      <p:pic>
        <p:nvPicPr>
          <p:cNvPr id="8" name="Immagine 7" descr="Immagine che contiene testo, linea, diagramma, Diagramma&#10;&#10;Il contenuto generato dall'IA potrebbe non essere corretto.">
            <a:extLst>
              <a:ext uri="{FF2B5EF4-FFF2-40B4-BE49-F238E27FC236}">
                <a16:creationId xmlns:a16="http://schemas.microsoft.com/office/drawing/2014/main" id="{3782DB05-AF9B-536E-0194-45A7AABFEEFE}"/>
              </a:ext>
            </a:extLst>
          </p:cNvPr>
          <p:cNvPicPr>
            <a:picLocks noChangeAspect="1"/>
          </p:cNvPicPr>
          <p:nvPr/>
        </p:nvPicPr>
        <p:blipFill>
          <a:blip r:embed="rId3">
            <a:extLst>
              <a:ext uri="{28A0092B-C50C-407E-A947-70E740481C1C}">
                <a14:useLocalDpi xmlns:a14="http://schemas.microsoft.com/office/drawing/2010/main" val="0"/>
              </a:ext>
            </a:extLst>
          </a:blip>
          <a:srcRect l="1923" r="2244"/>
          <a:stretch>
            <a:fillRect/>
          </a:stretch>
        </p:blipFill>
        <p:spPr>
          <a:xfrm>
            <a:off x="7810505" y="3429000"/>
            <a:ext cx="4381494" cy="3429000"/>
          </a:xfrm>
          <a:prstGeom prst="rect">
            <a:avLst/>
          </a:prstGeom>
        </p:spPr>
      </p:pic>
    </p:spTree>
    <p:extLst>
      <p:ext uri="{BB962C8B-B14F-4D97-AF65-F5344CB8AC3E}">
        <p14:creationId xmlns:p14="http://schemas.microsoft.com/office/powerpoint/2010/main" val="3569811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E8CA1A8-D46F-0BBB-826E-7895DDE3AC23}"/>
              </a:ext>
            </a:extLst>
          </p:cNvPr>
          <p:cNvSpPr>
            <a:spLocks noGrp="1"/>
          </p:cNvSpPr>
          <p:nvPr>
            <p:ph type="title"/>
          </p:nvPr>
        </p:nvSpPr>
        <p:spPr>
          <a:xfrm>
            <a:off x="1946564" y="1249217"/>
            <a:ext cx="8298873" cy="2258284"/>
          </a:xfrm>
        </p:spPr>
        <p:txBody>
          <a:bodyPr vert="horz" lIns="91440" tIns="45720" rIns="91440" bIns="45720" rtlCol="0" anchor="b">
            <a:normAutofit/>
          </a:bodyPr>
          <a:lstStyle/>
          <a:p>
            <a:pPr algn="ctr"/>
            <a:r>
              <a:rPr lang="en-US" sz="6600"/>
              <a:t>Conclusions </a:t>
            </a:r>
          </a:p>
        </p:txBody>
      </p:sp>
      <p:cxnSp>
        <p:nvCxnSpPr>
          <p:cNvPr id="11" name="Straight Connector 10">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7413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AC9535-49C2-C786-81F8-5166CFD943FC}"/>
              </a:ext>
            </a:extLst>
          </p:cNvPr>
          <p:cNvSpPr>
            <a:spLocks noGrp="1"/>
          </p:cNvSpPr>
          <p:nvPr>
            <p:ph type="title"/>
          </p:nvPr>
        </p:nvSpPr>
        <p:spPr/>
        <p:txBody>
          <a:bodyPr/>
          <a:lstStyle/>
          <a:p>
            <a:r>
              <a:rPr lang="it-IT" dirty="0"/>
              <a:t>Performance </a:t>
            </a:r>
            <a:r>
              <a:rPr lang="it-IT" dirty="0" err="1"/>
              <a:t>Summary</a:t>
            </a:r>
            <a:endParaRPr lang="en-US" dirty="0"/>
          </a:p>
        </p:txBody>
      </p:sp>
      <p:sp>
        <p:nvSpPr>
          <p:cNvPr id="3" name="Segnaposto contenuto 2">
            <a:extLst>
              <a:ext uri="{FF2B5EF4-FFF2-40B4-BE49-F238E27FC236}">
                <a16:creationId xmlns:a16="http://schemas.microsoft.com/office/drawing/2014/main" id="{E043B523-A6F5-3AB7-B4EF-54465C626B5B}"/>
              </a:ext>
            </a:extLst>
          </p:cNvPr>
          <p:cNvSpPr>
            <a:spLocks noGrp="1"/>
          </p:cNvSpPr>
          <p:nvPr>
            <p:ph idx="1"/>
          </p:nvPr>
        </p:nvSpPr>
        <p:spPr/>
        <p:txBody>
          <a:bodyPr>
            <a:normAutofit/>
          </a:bodyPr>
          <a:lstStyle/>
          <a:p>
            <a:pPr marL="0" indent="0">
              <a:buNone/>
            </a:pPr>
            <a:r>
              <a:rPr lang="en-US" dirty="0"/>
              <a:t>The hybrid </a:t>
            </a:r>
            <a:r>
              <a:rPr lang="en-US" b="1" dirty="0"/>
              <a:t>MPI + OpenMP</a:t>
            </a:r>
            <a:r>
              <a:rPr lang="en-US" dirty="0"/>
              <a:t> parallelization efficiently exploits both node-level and cluster-level parallelism.</a:t>
            </a:r>
          </a:p>
          <a:p>
            <a:r>
              <a:rPr lang="en-US" b="1" dirty="0"/>
              <a:t>OpenMP strong scaling</a:t>
            </a:r>
            <a:r>
              <a:rPr lang="en-US" dirty="0"/>
              <a:t> shows good performance at low thread counts, but scalability is limited by </a:t>
            </a:r>
            <a:r>
              <a:rPr lang="en-US" b="1" dirty="0"/>
              <a:t>memory bandwidth and NUMA effects</a:t>
            </a:r>
            <a:r>
              <a:rPr lang="en-US" dirty="0"/>
              <a:t>.</a:t>
            </a:r>
          </a:p>
          <a:p>
            <a:r>
              <a:rPr lang="en-US" b="1" dirty="0"/>
              <a:t>MPI strong and weak scaling</a:t>
            </a:r>
            <a:r>
              <a:rPr lang="en-US" dirty="0"/>
              <a:t> show very good results, with near-ideal speedup, efficiency close to 1, and nearly constant execution time in weak scaling.</a:t>
            </a:r>
          </a:p>
          <a:p>
            <a:pPr marL="0" indent="0">
              <a:buNone/>
            </a:pPr>
            <a:r>
              <a:rPr lang="en-US" dirty="0"/>
              <a:t>Overall, the parallel implementation demonstrates </a:t>
            </a:r>
            <a:r>
              <a:rPr lang="en-US" b="1" dirty="0"/>
              <a:t>good scalability and efficient use of computational resources</a:t>
            </a:r>
            <a:r>
              <a:rPr lang="en-US" dirty="0"/>
              <a:t>.</a:t>
            </a:r>
          </a:p>
        </p:txBody>
      </p:sp>
    </p:spTree>
    <p:extLst>
      <p:ext uri="{BB962C8B-B14F-4D97-AF65-F5344CB8AC3E}">
        <p14:creationId xmlns:p14="http://schemas.microsoft.com/office/powerpoint/2010/main" val="453839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88C9509-2A7F-599D-A32F-DD85F4860466}"/>
              </a:ext>
            </a:extLst>
          </p:cNvPr>
          <p:cNvSpPr>
            <a:spLocks noGrp="1"/>
          </p:cNvSpPr>
          <p:nvPr>
            <p:ph type="title"/>
          </p:nvPr>
        </p:nvSpPr>
        <p:spPr>
          <a:xfrm>
            <a:off x="1946564" y="1249217"/>
            <a:ext cx="8298873" cy="2258284"/>
          </a:xfrm>
        </p:spPr>
        <p:txBody>
          <a:bodyPr vert="horz" lIns="91440" tIns="45720" rIns="91440" bIns="45720" rtlCol="0" anchor="b">
            <a:normAutofit/>
          </a:bodyPr>
          <a:lstStyle/>
          <a:p>
            <a:pPr algn="ctr"/>
            <a:r>
              <a:rPr lang="en-US" sz="6600" dirty="0"/>
              <a:t>Thank you!</a:t>
            </a:r>
          </a:p>
        </p:txBody>
      </p:sp>
      <p:cxnSp>
        <p:nvCxnSpPr>
          <p:cNvPr id="28" name="Straight Connector 27">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9355479"/>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D25FE5528440446A53467A8B22399F2" ma:contentTypeVersion="16" ma:contentTypeDescription="Creare un nuovo documento." ma:contentTypeScope="" ma:versionID="0d1e795751a9bf73167d19756bbc67a2">
  <xsd:schema xmlns:xsd="http://www.w3.org/2001/XMLSchema" xmlns:xs="http://www.w3.org/2001/XMLSchema" xmlns:p="http://schemas.microsoft.com/office/2006/metadata/properties" xmlns:ns3="da87e92d-125f-45f6-8dec-ec3a460fc3f0" xmlns:ns4="1b571c93-a2fb-4f8c-ab2b-df244010eaf4" targetNamespace="http://schemas.microsoft.com/office/2006/metadata/properties" ma:root="true" ma:fieldsID="107faf9c968ea5d92c2c6641e8146b71" ns3:_="" ns4:_="">
    <xsd:import namespace="da87e92d-125f-45f6-8dec-ec3a460fc3f0"/>
    <xsd:import namespace="1b571c93-a2fb-4f8c-ab2b-df244010eaf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87e92d-125f-45f6-8dec-ec3a460fc3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571c93-a2fb-4f8c-ab2b-df244010eaf4" elementFormDefault="qualified">
    <xsd:import namespace="http://schemas.microsoft.com/office/2006/documentManagement/types"/>
    <xsd:import namespace="http://schemas.microsoft.com/office/infopath/2007/PartnerControls"/>
    <xsd:element name="SharedWithUsers" ma:index="13"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Condiviso con dettagli" ma:internalName="SharedWithDetails" ma:readOnly="true">
      <xsd:simpleType>
        <xsd:restriction base="dms:Note">
          <xsd:maxLength value="255"/>
        </xsd:restriction>
      </xsd:simpleType>
    </xsd:element>
    <xsd:element name="SharingHintHash" ma:index="15"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a87e92d-125f-45f6-8dec-ec3a460fc3f0" xsi:nil="true"/>
  </documentManagement>
</p:properties>
</file>

<file path=customXml/itemProps1.xml><?xml version="1.0" encoding="utf-8"?>
<ds:datastoreItem xmlns:ds="http://schemas.openxmlformats.org/officeDocument/2006/customXml" ds:itemID="{15CBB3FB-4049-4A53-B820-772DDAB977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87e92d-125f-45f6-8dec-ec3a460fc3f0"/>
    <ds:schemaRef ds:uri="1b571c93-a2fb-4f8c-ab2b-df244010eaf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1AE926-F21F-4831-80CB-BB51B4A4242D}">
  <ds:schemaRefs>
    <ds:schemaRef ds:uri="http://schemas.microsoft.com/sharepoint/v3/contenttype/forms"/>
  </ds:schemaRefs>
</ds:datastoreItem>
</file>

<file path=customXml/itemProps3.xml><?xml version="1.0" encoding="utf-8"?>
<ds:datastoreItem xmlns:ds="http://schemas.openxmlformats.org/officeDocument/2006/customXml" ds:itemID="{1A659EBB-1A20-45FD-8C62-9B4A5814C79A}">
  <ds:schemaRefs>
    <ds:schemaRef ds:uri="http://schemas.microsoft.com/office/infopath/2007/PartnerControls"/>
    <ds:schemaRef ds:uri="http://schemas.microsoft.com/office/2006/documentManagement/types"/>
    <ds:schemaRef ds:uri="http://purl.org/dc/dcmitype/"/>
    <ds:schemaRef ds:uri="da87e92d-125f-45f6-8dec-ec3a460fc3f0"/>
    <ds:schemaRef ds:uri="http://schemas.openxmlformats.org/package/2006/metadata/core-properties"/>
    <ds:schemaRef ds:uri="http://purl.org/dc/terms/"/>
    <ds:schemaRef ds:uri="http://purl.org/dc/elements/1.1/"/>
    <ds:schemaRef ds:uri="1b571c93-a2fb-4f8c-ab2b-df244010eaf4"/>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1303</Words>
  <Application>Microsoft Office PowerPoint</Application>
  <PresentationFormat>Widescreen</PresentationFormat>
  <Paragraphs>101</Paragraphs>
  <Slides>20</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20</vt:i4>
      </vt:variant>
    </vt:vector>
  </HeadingPairs>
  <TitlesOfParts>
    <vt:vector size="24" baseType="lpstr">
      <vt:lpstr>Arial</vt:lpstr>
      <vt:lpstr>Courier New</vt:lpstr>
      <vt:lpstr>Grandview Display</vt:lpstr>
      <vt:lpstr>DashVTI</vt:lpstr>
      <vt:lpstr>Parallel 2D Stencil Computation </vt:lpstr>
      <vt:lpstr>Stencil-Based heat Diffusion Simulation </vt:lpstr>
      <vt:lpstr>Parallelization strategy </vt:lpstr>
      <vt:lpstr>Halo cell Communication</vt:lpstr>
      <vt:lpstr>Implementation </vt:lpstr>
      <vt:lpstr>Hybrid MPI + OpenMP Implementation</vt:lpstr>
      <vt:lpstr>Memory and data management </vt:lpstr>
      <vt:lpstr>Overlapping MPI communication and Computation </vt:lpstr>
      <vt:lpstr>Scaling test</vt:lpstr>
      <vt:lpstr>Performance Tests</vt:lpstr>
      <vt:lpstr>OpenMP scaling: Execution Time</vt:lpstr>
      <vt:lpstr>OpenMP scaling: Speedup and Efficiency</vt:lpstr>
      <vt:lpstr>MPI Setup</vt:lpstr>
      <vt:lpstr>MPI Strong scaling: Execution Time</vt:lpstr>
      <vt:lpstr>MPI Strong scaling: Speedup and Efficiency</vt:lpstr>
      <vt:lpstr>MPI Weak Scaling: details</vt:lpstr>
      <vt:lpstr>MPI Weak scaling:  Execution Time and Efficiency </vt:lpstr>
      <vt:lpstr>Conclusions </vt:lpstr>
      <vt:lpstr>Performance 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ORTESE RITA [SM3800064]</dc:creator>
  <cp:lastModifiedBy>ORTESE RITA [SM3800064]</cp:lastModifiedBy>
  <cp:revision>2</cp:revision>
  <dcterms:created xsi:type="dcterms:W3CDTF">2026-03-05T11:54:36Z</dcterms:created>
  <dcterms:modified xsi:type="dcterms:W3CDTF">2026-03-05T22:55:34Z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0x010100AD25FE5528440446A53467A8B22399F2</vt:lpwstr>
  </property>
</Properties>
</file>
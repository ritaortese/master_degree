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5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5FEF06-6877-AEA5-C072-D8CE117CA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3762824-026F-7844-BCD5-4FAC78C3E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7AA4F9B-8213-89E8-5B9D-E5109C52A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4D128-603D-4DBD-951A-6894A3DBE80E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46A3943-D828-1B88-0C7A-CFD9163A5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3B1F8A1-D275-3507-ABCC-637A371A4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11C0-6E44-467E-949B-2408FEB5EE8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252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BAFAE4-A8C3-9ED3-D852-705B9AB5A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53951A-9FBD-D99C-CC75-B2AF8C6D1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1CD06F9-C5FC-A734-592F-49645D345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4D128-603D-4DBD-951A-6894A3DBE80E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E0FAE56-97F3-DB8B-48B7-42B6BBE3D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216958-4898-23CC-93DF-DF45346B1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11C0-6E44-467E-949B-2408FEB5EE8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39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637873-0F2F-9A70-528D-7F86A7A76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D69A2-3C9A-5611-A2C0-E6C22D33E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1F0401A-5C0E-4486-C52A-B39BCCE7A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4D128-603D-4DBD-951A-6894A3DBE80E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1F40079-6A5F-28BC-2F7E-CC062382F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DDCFFC5-FD3A-105F-C7B7-B06F7F220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11C0-6E44-467E-949B-2408FEB5EE8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61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E98AFD-095B-7F2A-6AB2-1B515C1D6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878E40A-9868-E79B-0ED8-0D675C67BA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379CEF6-CFCB-E21C-D92A-869EFCF2A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04313A7-9C13-9F4B-ADBF-8E5096E5B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4D128-603D-4DBD-951A-6894A3DBE80E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602786F-0D86-FA77-CABF-AC0DD3B25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A8B7556-3525-90AA-C483-C65BF1B60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11C0-6E44-467E-949B-2408FEB5EE8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652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32C4CA-FE4E-22A8-ABF0-235C64F67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F9AF57D-F6BA-80AF-BB32-24FED969F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74C04C1-F894-EBCD-93D5-A7B74D28B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8BF9509-0A9E-E19E-6F92-081439B980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6619289-E222-AC07-3129-6EED21E624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D3D38BF-1B58-DCC1-D66E-18AD693B7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4D128-603D-4DBD-951A-6894A3DBE80E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2A3539B-3B60-B986-A5DF-22FDE4A16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8ECBEF4-74E9-B56A-F812-62B3A6A6B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11C0-6E44-467E-949B-2408FEB5EE8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179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EFC855-391F-94B7-9808-5BEA98B45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23D43A4-ACAA-2BB4-8232-E089E80E4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4D128-603D-4DBD-951A-6894A3DBE80E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AE23D6C-85E3-0CC3-1CB3-51748C3CA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0B90653-1C09-B8BF-3BF8-5B45A2C5B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11C0-6E44-467E-949B-2408FEB5EE8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22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8BAEDE0-0329-2E83-D416-43A6D12C1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4D128-603D-4DBD-951A-6894A3DBE80E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ACA4DE0-D400-346C-B792-EB339A850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1ED73F8-C3E4-6E87-9664-ADF7E9547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11C0-6E44-467E-949B-2408FEB5EE8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751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762979-C43A-CEA5-E668-6B54B808F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C6614D-2EA0-6690-5078-35F480601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F9E3218-ECF7-F817-06B8-D49CE6D93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2E3F9AC-66C2-6F06-816C-DDA19335B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4D128-603D-4DBD-951A-6894A3DBE80E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ECC4852-9E75-8EA0-E716-B882367B1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09C0E2B-138E-EB00-2CAD-3435F57CB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11C0-6E44-467E-949B-2408FEB5EE8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87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50E506-A10E-4A55-F15B-B9E187DA0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7C976E0-08C2-EB0A-0442-EF75A8693D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9974E2F-02B6-86A3-B8BD-2113EE443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DECE2CC-135E-FE36-1337-F34D68332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4D128-603D-4DBD-951A-6894A3DBE80E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0FA82AE-22D6-C5B3-73D8-AA1D6719C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A91A74A-EF2F-DEF7-2D73-31D976F39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11C0-6E44-467E-949B-2408FEB5EE8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146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C5C13F-65D2-89FB-D52A-9FC194D0A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AC3B1B7-0259-3744-1C85-36148E948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2C8D482-FD14-9E4E-A221-DDC8859ED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4D128-603D-4DBD-951A-6894A3DBE80E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16539DF-9892-5B83-7EC4-10C868B88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01B35AA-7363-153E-9781-2F614B3D3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11C0-6E44-467E-949B-2408FEB5EE8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947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C2E7FC7-A6AF-5D5C-6A00-4473DF89CA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50000A-53E6-114C-4563-FE7B6E651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49E21E9-E65F-B701-C22A-1639F243F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4D128-603D-4DBD-951A-6894A3DBE80E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2F73C16-DCF6-FB56-BBB2-1619A702C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CAFEBD7-ADEE-0A17-F469-B9F76C836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11C0-6E44-467E-949B-2408FEB5EE8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932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9DB8481-6723-5A25-D95A-2561F09C2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2F2E519-5AA3-AE95-82A0-655F38401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02713E8-206F-D5AB-2EB9-35430C7D7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84D128-603D-4DBD-951A-6894A3DBE80E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18DB0B9-D92C-67EE-DC41-23484DCD83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84826C0-F2DB-942C-15D8-C2F08650A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311C0-6E44-467E-949B-2408FEB5EE8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030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A294A5B-3CC1-9502-809E-CA111512C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US" dirty="0" err="1"/>
              <a:t>PredictStroke</a:t>
            </a:r>
            <a:br>
              <a:rPr lang="en-US" sz="5600" dirty="0"/>
            </a:br>
            <a:br>
              <a:rPr lang="en-US" sz="5600" i="1" dirty="0"/>
            </a:br>
            <a:r>
              <a:rPr lang="en-US" sz="4500" i="1" dirty="0"/>
              <a:t>Software Engineer/Project Manager</a:t>
            </a:r>
            <a:br>
              <a:rPr lang="en-US" sz="4500" i="1"/>
            </a:br>
            <a:endParaRPr lang="en-US" sz="4500" i="1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DBEF847-43CF-3AE0-2128-5A105C0EC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>
            <a:normAutofit/>
          </a:bodyPr>
          <a:lstStyle/>
          <a:p>
            <a:pPr algn="r"/>
            <a:r>
              <a:rPr lang="en-US"/>
              <a:t>Ortese Rita                                                           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6906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8C3D2B0-A260-8051-0D45-5749D97AD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en-US" sz="6000" dirty="0"/>
              <a:t>Introduction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3B50CE-6A13-2F69-600B-2233EE6B5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754245"/>
            <a:ext cx="10509504" cy="15157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Aim</a:t>
            </a:r>
            <a:r>
              <a:rPr lang="en-US" sz="2200" dirty="0"/>
              <a:t>: Develop a Machine Learning-based system to predict stroke risk using the Stroke Prediction dataset, offering a web service for specialists and users to assess their likelihood based on health data.</a:t>
            </a:r>
          </a:p>
        </p:txBody>
      </p:sp>
    </p:spTree>
    <p:extLst>
      <p:ext uri="{BB962C8B-B14F-4D97-AF65-F5344CB8AC3E}">
        <p14:creationId xmlns:p14="http://schemas.microsoft.com/office/powerpoint/2010/main" val="715961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A830CA8-D7C0-66F8-04C2-031078D26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en-US" sz="6000"/>
              <a:t>Team organization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D0468F6-D409-F68B-DE69-DE97D6CE9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• </a:t>
            </a:r>
            <a:r>
              <a:rPr lang="en-US" sz="2200" b="1" dirty="0"/>
              <a:t>Software Engineers/Project Managers</a:t>
            </a:r>
            <a:r>
              <a:rPr lang="en-US" sz="2200" dirty="0"/>
              <a:t>: coordinate the project, manage development tasks, and ensure the machine learning model was properly integrated into the web application; </a:t>
            </a:r>
          </a:p>
          <a:p>
            <a:pPr marL="0" indent="0">
              <a:buNone/>
            </a:pPr>
            <a:r>
              <a:rPr lang="en-US" sz="2200" dirty="0"/>
              <a:t>• </a:t>
            </a:r>
            <a:r>
              <a:rPr lang="en-US" sz="2200" b="1" dirty="0"/>
              <a:t>Software Developer</a:t>
            </a:r>
            <a:r>
              <a:rPr lang="en-US" sz="2200" dirty="0"/>
              <a:t>: develop the interactive interface and application logic using </a:t>
            </a:r>
            <a:r>
              <a:rPr lang="en-US" sz="2200" i="1" dirty="0" err="1"/>
              <a:t>Streamlit</a:t>
            </a:r>
            <a:r>
              <a:rPr lang="en-US" sz="2200" dirty="0"/>
              <a:t>;</a:t>
            </a:r>
          </a:p>
          <a:p>
            <a:pPr marL="0" indent="0">
              <a:buNone/>
            </a:pPr>
            <a:r>
              <a:rPr lang="en-US" sz="2200" dirty="0"/>
              <a:t>• </a:t>
            </a:r>
            <a:r>
              <a:rPr lang="en-US" sz="2200" b="1" dirty="0"/>
              <a:t>Data Engineer</a:t>
            </a:r>
            <a:r>
              <a:rPr lang="en-US" sz="2200" dirty="0"/>
              <a:t>: handle data processing, model training, and ensure the dataset was well structured for accurate predictions.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84481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0A98A1D-DDC0-F072-50EE-4341823AC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en-US" sz="6000" dirty="0"/>
              <a:t>Background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C1DA733-E3AC-CB4F-5B82-49EB4B1E7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For the development of the </a:t>
            </a:r>
            <a:r>
              <a:rPr lang="en-US" sz="2200" i="1" dirty="0" err="1"/>
              <a:t>PredictStroke</a:t>
            </a:r>
            <a:r>
              <a:rPr lang="en-US" sz="2200" dirty="0"/>
              <a:t> project, we adopted the </a:t>
            </a:r>
            <a:r>
              <a:rPr lang="en-US" sz="2200" b="1" dirty="0"/>
              <a:t>Agile</a:t>
            </a:r>
            <a:r>
              <a:rPr lang="en-US" sz="2200" dirty="0"/>
              <a:t> model with an </a:t>
            </a:r>
            <a:r>
              <a:rPr lang="en-US" sz="2200" b="1" dirty="0"/>
              <a:t>incremental</a:t>
            </a:r>
            <a:r>
              <a:rPr lang="en-US" sz="2200" dirty="0"/>
              <a:t> approach, ensuring flexibility and continuous improvement. </a:t>
            </a:r>
          </a:p>
          <a:p>
            <a:pPr marL="0" indent="0">
              <a:buNone/>
            </a:pPr>
            <a:r>
              <a:rPr lang="en-US" sz="2200" dirty="0"/>
              <a:t>Key aspects of this approach included: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Iteration</a:t>
            </a:r>
            <a:r>
              <a:rPr lang="en-US" sz="2200" dirty="0"/>
              <a:t>: gradual refinement of machine learning models;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Testing:</a:t>
            </a:r>
            <a:r>
              <a:rPr lang="en-US" sz="2200" dirty="0"/>
              <a:t> early detection and resolution of issues;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Feedback:</a:t>
            </a:r>
            <a:r>
              <a:rPr lang="en-US" sz="2200" dirty="0"/>
              <a:t> continuous refinements, doing daily meeting;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Improvement:</a:t>
            </a:r>
            <a:r>
              <a:rPr lang="en-US" sz="2200" dirty="0"/>
              <a:t> ongoing improvement of features and interface.</a:t>
            </a:r>
          </a:p>
        </p:txBody>
      </p:sp>
    </p:spTree>
    <p:extLst>
      <p:ext uri="{BB962C8B-B14F-4D97-AF65-F5344CB8AC3E}">
        <p14:creationId xmlns:p14="http://schemas.microsoft.com/office/powerpoint/2010/main" val="3575331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5AF100E-8A56-C67E-B849-CFBF2E6F7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US" sz="3200"/>
              <a:t>Gantt Chart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DF4FE8-1BEE-8CEC-A1E1-4AB505334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dirty="0"/>
              <a:t>We used a </a:t>
            </a:r>
            <a:r>
              <a:rPr lang="en-US" sz="2200" b="1" dirty="0"/>
              <a:t>Gantt Chart</a:t>
            </a:r>
            <a:r>
              <a:rPr lang="en-US" sz="2200" dirty="0"/>
              <a:t> to structure the </a:t>
            </a:r>
            <a:r>
              <a:rPr lang="en-US" sz="2200" b="1" dirty="0"/>
              <a:t>10-day</a:t>
            </a:r>
            <a:r>
              <a:rPr lang="en-US" sz="2200" dirty="0"/>
              <a:t> timeline, enabling parallel development, efficient task management, and continuous iteration.</a:t>
            </a:r>
          </a:p>
        </p:txBody>
      </p:sp>
      <p:pic>
        <p:nvPicPr>
          <p:cNvPr id="5" name="Immagine 4" descr="Immagine che contiene testo, schermata, linea, numero&#10;&#10;Il contenuto generato dall'IA potrebbe non essere corretto.">
            <a:extLst>
              <a:ext uri="{FF2B5EF4-FFF2-40B4-BE49-F238E27FC236}">
                <a16:creationId xmlns:a16="http://schemas.microsoft.com/office/drawing/2014/main" id="{CE25C4C7-40A6-BDD1-15A2-F878DDC66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34" y="3147057"/>
            <a:ext cx="12065009" cy="247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607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3C157E2-94F3-E115-5180-2254AA5C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en-US" sz="6000"/>
              <a:t>Methodology and Development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F8E048F-917E-EAA9-F757-AC7A026BB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953" y="3037087"/>
            <a:ext cx="10957079" cy="35459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it-IT" sz="2400" b="1" dirty="0"/>
              <a:t>Software </a:t>
            </a:r>
            <a:r>
              <a:rPr lang="it-IT" sz="2400" b="1" dirty="0" err="1"/>
              <a:t>Requirements</a:t>
            </a:r>
            <a:endParaRPr lang="it-IT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2400" i="1" dirty="0" err="1"/>
              <a:t>Functional</a:t>
            </a:r>
            <a:r>
              <a:rPr lang="it-IT" sz="2400" dirty="0"/>
              <a:t>: users input </a:t>
            </a:r>
            <a:r>
              <a:rPr lang="it-IT" sz="2400" dirty="0" err="1"/>
              <a:t>medical</a:t>
            </a:r>
            <a:r>
              <a:rPr lang="it-IT" sz="2400" dirty="0"/>
              <a:t> data, ML model </a:t>
            </a:r>
            <a:r>
              <a:rPr lang="it-IT" sz="2400" dirty="0" err="1"/>
              <a:t>predicts</a:t>
            </a:r>
            <a:r>
              <a:rPr lang="it-IT" sz="2400" dirty="0"/>
              <a:t> stroke risk, </a:t>
            </a:r>
            <a:r>
              <a:rPr lang="it-IT" sz="2400" dirty="0" err="1"/>
              <a:t>results</a:t>
            </a:r>
            <a:r>
              <a:rPr lang="it-IT" sz="2400" dirty="0"/>
              <a:t> are intuitive;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/>
              <a:t>Non-Functional</a:t>
            </a:r>
            <a:r>
              <a:rPr lang="it-IT" sz="2400" dirty="0"/>
              <a:t>: multi-device </a:t>
            </a:r>
            <a:r>
              <a:rPr lang="it-IT" sz="2400" dirty="0" err="1"/>
              <a:t>accessibility</a:t>
            </a:r>
            <a:r>
              <a:rPr lang="it-IT" sz="2400" dirty="0"/>
              <a:t>, </a:t>
            </a:r>
            <a:r>
              <a:rPr lang="it-IT" sz="2400" dirty="0" err="1"/>
              <a:t>scalability</a:t>
            </a:r>
            <a:r>
              <a:rPr lang="it-IT" sz="2400" dirty="0"/>
              <a:t>, and fast </a:t>
            </a:r>
            <a:r>
              <a:rPr lang="it-IT" sz="2400" dirty="0" err="1"/>
              <a:t>predictions</a:t>
            </a:r>
            <a:r>
              <a:rPr lang="it-IT" sz="2400" dirty="0"/>
              <a:t> (&lt;5s).</a:t>
            </a:r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r>
              <a:rPr lang="it-IT" sz="2400" b="1" dirty="0"/>
              <a:t>Development Methods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400" i="1" dirty="0"/>
              <a:t>Agile &amp; </a:t>
            </a:r>
            <a:r>
              <a:rPr lang="it-IT" sz="2400" i="1" dirty="0" err="1"/>
              <a:t>Incremental</a:t>
            </a:r>
            <a:r>
              <a:rPr lang="it-IT" sz="2400" dirty="0"/>
              <a:t>: </a:t>
            </a:r>
            <a:r>
              <a:rPr lang="it-IT" sz="2400" dirty="0" err="1"/>
              <a:t>parallel</a:t>
            </a:r>
            <a:r>
              <a:rPr lang="it-IT" sz="2400" dirty="0"/>
              <a:t> </a:t>
            </a:r>
            <a:r>
              <a:rPr lang="it-IT" sz="2400" dirty="0" err="1"/>
              <a:t>development</a:t>
            </a:r>
            <a:r>
              <a:rPr lang="it-IT" sz="2400" dirty="0"/>
              <a:t> of web, data, and ML </a:t>
            </a:r>
            <a:r>
              <a:rPr lang="it-IT" sz="2400" dirty="0" err="1"/>
              <a:t>components</a:t>
            </a:r>
            <a:r>
              <a:rPr lang="it-IT" sz="2400" dirty="0"/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400" i="1" dirty="0"/>
              <a:t>System Development: </a:t>
            </a:r>
            <a:r>
              <a:rPr lang="it-IT" sz="2400" dirty="0"/>
              <a:t>Python, modular design for </a:t>
            </a:r>
            <a:r>
              <a:rPr lang="it-IT" sz="2400" dirty="0" err="1"/>
              <a:t>smooth</a:t>
            </a:r>
            <a:r>
              <a:rPr lang="it-IT" sz="2400" dirty="0"/>
              <a:t> </a:t>
            </a:r>
            <a:r>
              <a:rPr lang="it-IT" sz="2400" dirty="0" err="1"/>
              <a:t>integration</a:t>
            </a:r>
            <a:r>
              <a:rPr lang="it-IT" sz="2400" dirty="0"/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400" i="1" dirty="0"/>
              <a:t>Version Control</a:t>
            </a:r>
            <a:r>
              <a:rPr lang="it-IT" sz="2400" dirty="0"/>
              <a:t>: </a:t>
            </a:r>
            <a:r>
              <a:rPr lang="it-IT" sz="2400" dirty="0" err="1"/>
              <a:t>Git</a:t>
            </a:r>
            <a:r>
              <a:rPr lang="it-IT" sz="2400" dirty="0"/>
              <a:t> &amp; GitHub with </a:t>
            </a:r>
            <a:r>
              <a:rPr lang="it-IT" sz="2400" dirty="0" err="1"/>
              <a:t>structured</a:t>
            </a:r>
            <a:r>
              <a:rPr lang="it-IT" sz="2400" dirty="0"/>
              <a:t> branching (</a:t>
            </a:r>
            <a:r>
              <a:rPr lang="it-IT" sz="2400" dirty="0" err="1"/>
              <a:t>main</a:t>
            </a:r>
            <a:r>
              <a:rPr lang="it-IT" sz="2400" dirty="0"/>
              <a:t>, </a:t>
            </a:r>
            <a:r>
              <a:rPr lang="it-IT" sz="2400" dirty="0" err="1"/>
              <a:t>data_engineer</a:t>
            </a:r>
            <a:r>
              <a:rPr lang="it-IT" sz="2400" dirty="0"/>
              <a:t>, website).</a:t>
            </a:r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677022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D8397EE-7486-F619-D3DB-06C710529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en-US" sz="6000"/>
              <a:t>Testing and Validation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F294C7-EC55-1EE8-6056-28F6E60A9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Testing Plan and Strategy: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i="1" dirty="0"/>
              <a:t>Integration Testing</a:t>
            </a:r>
            <a:r>
              <a:rPr lang="en-US" sz="2200" dirty="0"/>
              <a:t>: ensured efficient interaction between the web interface and ML model;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i="1" dirty="0"/>
              <a:t>Manual Testing</a:t>
            </a:r>
            <a:r>
              <a:rPr lang="en-US" sz="2200" dirty="0"/>
              <a:t>: User interface (UI) validation and model performance checks.</a:t>
            </a:r>
          </a:p>
          <a:p>
            <a:pPr marL="0" indent="0">
              <a:buNone/>
            </a:pPr>
            <a:r>
              <a:rPr lang="en-US" sz="2200" b="1" dirty="0"/>
              <a:t>Key Outcomes: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Robust, scalable, and efficient system;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Continuous iteration and feedback for reliability.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731868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FAEB9F2-6DA9-9EF3-5F59-43728C19D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en-US" sz="6000"/>
              <a:t>MLOps Approaches and Dataset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A82648-8D8B-DBDF-9BB4-2FCD63818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dirty="0"/>
              <a:t>Implementing </a:t>
            </a:r>
            <a:r>
              <a:rPr lang="en-US" sz="2200" dirty="0" err="1"/>
              <a:t>MLOps</a:t>
            </a:r>
            <a:r>
              <a:rPr lang="en-US" sz="2200" dirty="0"/>
              <a:t> best practices ensured robustness in model training, evaluation, and deployment: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Dataset</a:t>
            </a:r>
            <a:r>
              <a:rPr lang="en-US" sz="2200" dirty="0"/>
              <a:t>: Stroke Prediction Dataset (5109 samples);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Data split</a:t>
            </a:r>
            <a:r>
              <a:rPr lang="en-US" sz="2200" dirty="0"/>
              <a:t>: 25% for testing (1278 samples) and 75% for training;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Handling class imbalance</a:t>
            </a:r>
            <a:r>
              <a:rPr lang="en-US" sz="2200" dirty="0"/>
              <a:t>: applied </a:t>
            </a:r>
            <a:r>
              <a:rPr lang="en-US" sz="2200" i="1" dirty="0"/>
              <a:t>oversampling</a:t>
            </a:r>
            <a:r>
              <a:rPr lang="en-US" sz="2200" dirty="0"/>
              <a:t> to the training set (expanded to 7284 samples);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Feature selection</a:t>
            </a:r>
            <a:r>
              <a:rPr lang="en-US" sz="2200" dirty="0"/>
              <a:t>: 10 most relevant features chosen;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Validation</a:t>
            </a:r>
            <a:r>
              <a:rPr lang="en-US" sz="2200" dirty="0"/>
              <a:t>: K-Fold Cross Validation used to improve generalization.</a:t>
            </a:r>
          </a:p>
          <a:p>
            <a:pPr marL="0" indent="0">
              <a:buNone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371438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DFCD6DA-EAF1-E6AB-72CD-AAAE27997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70765"/>
            <a:ext cx="10773236" cy="1475096"/>
          </a:xfrm>
        </p:spPr>
        <p:txBody>
          <a:bodyPr anchor="b">
            <a:normAutofit/>
          </a:bodyPr>
          <a:lstStyle/>
          <a:p>
            <a:r>
              <a:rPr lang="en-US" sz="6000" dirty="0"/>
              <a:t>Model Evaluation and Deployment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AC2735-8298-20EC-C67A-3255F6258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040" y="3216626"/>
            <a:ext cx="10806443" cy="303242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600" dirty="0"/>
              <a:t>Oversampling significantly improved classification performance, enabling accurate predictions in an interactive application: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b="1" dirty="0"/>
              <a:t>Models tested</a:t>
            </a:r>
            <a:r>
              <a:rPr lang="en-US" sz="2600" dirty="0"/>
              <a:t>: Logistic Regression, Decision Tree, Random Forest, SVM;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b="1" dirty="0"/>
              <a:t>Without oversampling</a:t>
            </a:r>
            <a:r>
              <a:rPr lang="en-US" sz="2600" dirty="0"/>
              <a:t>: Very low Recall &amp; F1-score, poor minority class classification;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b="1" dirty="0"/>
              <a:t>With oversampling</a:t>
            </a:r>
            <a:r>
              <a:rPr lang="en-US" sz="2600" dirty="0"/>
              <a:t>: Significant improvement in key metrics;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b="1" dirty="0"/>
              <a:t>Best model</a:t>
            </a:r>
            <a:r>
              <a:rPr lang="en-US" sz="2600" dirty="0"/>
              <a:t>: Random Forest (96% accuracy);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b="1" dirty="0"/>
              <a:t>Deployment</a:t>
            </a:r>
            <a:r>
              <a:rPr lang="en-US" sz="2600" dirty="0"/>
              <a:t>: Models stored and integrated into a user-friendly application;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b="1" dirty="0"/>
              <a:t>User interaction</a:t>
            </a:r>
            <a:r>
              <a:rPr lang="en-US" sz="2600" dirty="0"/>
              <a:t>: Input data, select model, receive stroke risk prediction.</a:t>
            </a:r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835368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067F4C2-9824-2019-880C-05364DE08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en-US" sz="6000"/>
              <a:t>Discussion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2054E-DDF9-E60B-9F5F-56CB1DE4C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While </a:t>
            </a:r>
            <a:r>
              <a:rPr lang="en-US" sz="2200" i="1" dirty="0" err="1"/>
              <a:t>PredictStroke</a:t>
            </a:r>
            <a:r>
              <a:rPr lang="en-US" sz="2200" i="1" dirty="0"/>
              <a:t> </a:t>
            </a:r>
            <a:r>
              <a:rPr lang="en-US" sz="2200" dirty="0"/>
              <a:t>shows promise for stroke risk assessment, certain challenges must be addressed for real-world application: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Privacy Concerns</a:t>
            </a:r>
            <a:r>
              <a:rPr lang="en-US" sz="2200" dirty="0"/>
              <a:t>: No real patient data used, and external user testing not conducted;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Deployment Challenges</a:t>
            </a:r>
            <a:r>
              <a:rPr lang="en-US" sz="2200" dirty="0"/>
              <a:t>: Requires patient consent and a structured data collection process for real-world integration.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Lack of Interpretability</a:t>
            </a:r>
            <a:r>
              <a:rPr lang="en-US" sz="2200" dirty="0"/>
              <a:t>: The model predicts stroke risk but does not provide insights into underlying causes.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902411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B33546F-0E87-AA79-AD63-9393D807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en-US" sz="6000"/>
              <a:t>Conclusion and Future Work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9320B0-0C00-CE0F-B897-065CAFDBB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243700"/>
            <a:ext cx="10901573" cy="31875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This project serves as a foundational tool for predictive healthcare, with potential improvements for better clinical integration.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Potential Impact</a:t>
            </a:r>
            <a:r>
              <a:rPr lang="en-US" sz="2400" dirty="0"/>
              <a:t>: can help in early stroke detection and be integrated into medical environments.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Future Improvements</a:t>
            </a:r>
            <a:r>
              <a:rPr lang="en-US" sz="2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Exploring advanced models (CNNs) and additional predictive features;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Conducting real-world testing with structured patient data.</a:t>
            </a:r>
          </a:p>
          <a:p>
            <a:pPr marL="0" indent="0">
              <a:buNone/>
            </a:pPr>
            <a:r>
              <a:rPr lang="en-US" sz="2400" dirty="0"/>
              <a:t>Despite limitations, </a:t>
            </a:r>
            <a:r>
              <a:rPr lang="en-US" sz="2400" i="1" dirty="0" err="1"/>
              <a:t>PredictStroke</a:t>
            </a:r>
            <a:r>
              <a:rPr lang="en-US" sz="2400" dirty="0"/>
              <a:t> sets the groundwork for future research and medical applications.</a:t>
            </a:r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0498004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655</Words>
  <Application>Microsoft Office PowerPoint</Application>
  <PresentationFormat>Widescreen</PresentationFormat>
  <Paragraphs>61</Paragraphs>
  <Slides>11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Tema di Office</vt:lpstr>
      <vt:lpstr>PredictStroke  Software Engineer/Project Manager </vt:lpstr>
      <vt:lpstr>Introduction</vt:lpstr>
      <vt:lpstr>Team organization</vt:lpstr>
      <vt:lpstr>Background</vt:lpstr>
      <vt:lpstr>Gantt Chart</vt:lpstr>
      <vt:lpstr>Methodology and Development</vt:lpstr>
      <vt:lpstr>Testing and Validation</vt:lpstr>
      <vt:lpstr>MLOps Approaches and Dataset</vt:lpstr>
      <vt:lpstr>Model Evaluation and Deployment</vt:lpstr>
      <vt:lpstr>Discussion </vt:lpstr>
      <vt:lpstr>Conclusion and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Rita Ortese</dc:creator>
  <cp:lastModifiedBy>Rita Ortese</cp:lastModifiedBy>
  <cp:revision>5</cp:revision>
  <dcterms:created xsi:type="dcterms:W3CDTF">2025-02-18T10:48:42Z</dcterms:created>
  <dcterms:modified xsi:type="dcterms:W3CDTF">2025-02-20T11:38:35Z</dcterms:modified>
</cp:coreProperties>
</file>
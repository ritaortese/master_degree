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AA246-FB87-4C62-A3D0-2F69A55647BB}" v="101" dt="2025-07-21T18:42:05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4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8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6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18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5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70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0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64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9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2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47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journal/chaos-solitons-and-fractals/vol/164/suppl/C" TargetMode="External"/><Relationship Id="rId2" Type="http://schemas.openxmlformats.org/officeDocument/2006/relationships/hyperlink" Target="https://www.sciencedirect.com/journal/chaos-solitons-and-fractal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DE1DA4-96DF-E0C4-B5A7-8A19A4EB5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SDE models for tumor population growth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375A426-FBAD-453B-72CA-D09E11C1B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5081377"/>
            <a:ext cx="5322013" cy="10056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it-IT" dirty="0" err="1"/>
              <a:t>Autors</a:t>
            </a:r>
            <a:r>
              <a:rPr lang="it-IT" dirty="0"/>
              <a:t>: Mahmoud B.A. Mansour, </a:t>
            </a:r>
            <a:r>
              <a:rPr lang="it-IT" dirty="0" err="1"/>
              <a:t>AsmaaH.Abobakr</a:t>
            </a:r>
            <a:endParaRPr lang="it-IT" dirty="0"/>
          </a:p>
          <a:p>
            <a:pPr>
              <a:lnSpc>
                <a:spcPct val="100000"/>
              </a:lnSpc>
            </a:pPr>
            <a:r>
              <a:rPr lang="it-IT" dirty="0"/>
              <a:t>Journal home page: </a:t>
            </a:r>
            <a:r>
              <a:rPr lang="it-IT" dirty="0">
                <a:hlinkClick r:id="rId2" tooltip="Go to Chaos, Solitons &amp; Fractals on ScienceDirect"/>
              </a:rPr>
              <a:t>Chaos, </a:t>
            </a:r>
            <a:r>
              <a:rPr lang="it-IT" dirty="0" err="1">
                <a:hlinkClick r:id="rId2" tooltip="Go to Chaos, Solitons &amp; Fractals on ScienceDirect"/>
              </a:rPr>
              <a:t>Solitons</a:t>
            </a:r>
            <a:r>
              <a:rPr lang="it-IT" dirty="0">
                <a:hlinkClick r:id="rId2" tooltip="Go to Chaos, Solitons &amp; Fractals on ScienceDirect"/>
              </a:rPr>
              <a:t> &amp; </a:t>
            </a:r>
            <a:r>
              <a:rPr lang="it-IT" dirty="0" err="1">
                <a:hlinkClick r:id="rId2" tooltip="Go to Chaos, Solitons &amp; Fractals on ScienceDirect"/>
              </a:rPr>
              <a:t>Fractals</a:t>
            </a:r>
            <a:endParaRPr lang="it-IT" dirty="0"/>
          </a:p>
          <a:p>
            <a:pPr>
              <a:lnSpc>
                <a:spcPct val="100000"/>
              </a:lnSpc>
            </a:pPr>
            <a:r>
              <a:rPr lang="it-IT" dirty="0">
                <a:hlinkClick r:id="rId3" tooltip="Go to table of contents for this volume/issue"/>
              </a:rPr>
              <a:t>Volume 164</a:t>
            </a:r>
            <a:r>
              <a:rPr lang="it-IT" dirty="0"/>
              <a:t>, November 2022, 112738</a:t>
            </a:r>
          </a:p>
          <a:p>
            <a:pPr>
              <a:lnSpc>
                <a:spcPct val="100000"/>
              </a:lnSpc>
            </a:pPr>
            <a:r>
              <a:rPr lang="it-IT" dirty="0" err="1"/>
              <a:t>Student</a:t>
            </a:r>
            <a:r>
              <a:rPr lang="it-IT" dirty="0"/>
              <a:t> Ortese Rita</a:t>
            </a:r>
            <a:endParaRPr lang="en-US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2D06A680-8272-4A3E-48DE-F95BFA3A4C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34" r="31122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7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14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42C301-4904-5406-67BF-F2FAFB5D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general model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6FBD477-A1FF-8133-378B-51593CF0B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1013" y="2566733"/>
            <a:ext cx="6529973" cy="113624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728763FF-4051-390B-E877-87AE049FA7ED}"/>
                  </a:ext>
                </a:extLst>
              </p:cNvPr>
              <p:cNvSpPr txBox="1"/>
              <p:nvPr/>
            </p:nvSpPr>
            <p:spPr>
              <a:xfrm>
                <a:off x="812930" y="4071949"/>
                <a:ext cx="8406065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x: size of the tumor cell population </a:t>
                </a:r>
              </a:p>
              <a:p>
                <a:r>
                  <a:rPr lang="en-US" sz="2500" dirty="0"/>
                  <a:t>a: Malthusian growth parameter</a:t>
                </a:r>
              </a:p>
              <a:p>
                <a:r>
                  <a:rPr lang="en-US" sz="2500" dirty="0"/>
                  <a:t>b: restriction in growth (crowing and competition resources)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500" b="0" i="1" smtClean="0">
                        <a:latin typeface="Cambria Math" panose="02040503050406030204" pitchFamily="18" charset="0"/>
                      </a:rPr>
                      <m:t>β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it-IT" sz="2500" b="0" dirty="0"/>
                  <a:t> immunization rate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728763FF-4051-390B-E877-87AE049FA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30" y="4071949"/>
                <a:ext cx="8406065" cy="1908215"/>
              </a:xfrm>
              <a:prstGeom prst="rect">
                <a:avLst/>
              </a:prstGeom>
              <a:blipFill>
                <a:blip r:embed="rId3"/>
                <a:stretch>
                  <a:fillRect l="-1160" t="-2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ED332629-0112-A430-9B37-128CED4D525C}"/>
              </a:ext>
            </a:extLst>
          </p:cNvPr>
          <p:cNvSpPr txBox="1"/>
          <p:nvPr/>
        </p:nvSpPr>
        <p:spPr>
          <a:xfrm>
            <a:off x="812930" y="1764632"/>
            <a:ext cx="94058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We consider the general tumor cell population growth model with immunization:</a:t>
            </a:r>
          </a:p>
        </p:txBody>
      </p:sp>
    </p:spTree>
    <p:extLst>
      <p:ext uri="{BB962C8B-B14F-4D97-AF65-F5344CB8AC3E}">
        <p14:creationId xmlns:p14="http://schemas.microsoft.com/office/powerpoint/2010/main" val="390464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5C3123-F536-BFCC-D60E-269376200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random fluctuations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DB7F5A-03A7-0843-DA6C-FDB8D4E1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random fluctuations (</a:t>
            </a:r>
            <a:r>
              <a:rPr lang="en-US" dirty="0" err="1"/>
              <a:t>iid</a:t>
            </a:r>
            <a:r>
              <a:rPr lang="en-US" dirty="0"/>
              <a:t> about the path) affect the system through external parameters</a:t>
            </a:r>
          </a:p>
          <a:p>
            <a:r>
              <a:rPr lang="en-US" dirty="0"/>
              <a:t>The parameter a is regarded as a random variable in the from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73DD772-0F0E-67CF-9AFA-A2AB3E5FD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625" y="3369987"/>
            <a:ext cx="2194750" cy="62489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22EB56F-58FF-42CB-8D6E-BF805F3DDE63}"/>
              </a:ext>
            </a:extLst>
          </p:cNvPr>
          <p:cNvSpPr txBox="1"/>
          <p:nvPr/>
        </p:nvSpPr>
        <p:spPr>
          <a:xfrm>
            <a:off x="1058779" y="3987950"/>
            <a:ext cx="9384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So, we obtain the SDE: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2D7D2F8-056F-5A36-7D48-40613A702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744" y="4612845"/>
            <a:ext cx="4883233" cy="83808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31BF3DF-9B9E-F7FD-E26F-2AB4264CD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745" y="5330466"/>
            <a:ext cx="1564800" cy="4957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16CD61E-11F5-B42A-B803-3310EF4028A5}"/>
              </a:ext>
            </a:extLst>
          </p:cNvPr>
          <p:cNvSpPr txBox="1"/>
          <p:nvPr/>
        </p:nvSpPr>
        <p:spPr>
          <a:xfrm>
            <a:off x="800100" y="4317257"/>
            <a:ext cx="1412923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0" dirty="0"/>
              <a:t>{</a:t>
            </a:r>
          </a:p>
        </p:txBody>
      </p:sp>
    </p:spTree>
    <p:extLst>
      <p:ext uri="{BB962C8B-B14F-4D97-AF65-F5344CB8AC3E}">
        <p14:creationId xmlns:p14="http://schemas.microsoft.com/office/powerpoint/2010/main" val="21177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09DAE2-2E07-9C9E-417D-1456816CB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 of the </a:t>
            </a:r>
            <a:r>
              <a:rPr lang="en-US" dirty="0" err="1"/>
              <a:t>sde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0F8325-EF2D-23A7-1610-268CE435E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99135"/>
            <a:ext cx="9849299" cy="37398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apply the Euler-Maruyama algorithm, with the following discretization equation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51B30D6-DAD3-12A0-44A0-9EEE8BA87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065494"/>
            <a:ext cx="7065907" cy="102491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A2CB78C-D331-F7BF-418F-4058AC99B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26" y="4549141"/>
            <a:ext cx="1463132" cy="35740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130325B-C8AA-234D-E71B-E223A9A48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626" y="4906546"/>
            <a:ext cx="1943268" cy="46486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7EB7DDC-E645-1A82-C5FC-97B9DA8BD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2066" y="5346616"/>
            <a:ext cx="1337354" cy="40120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08823B0-B85B-25EB-EB1A-B828F6D4F51F}"/>
              </a:ext>
            </a:extLst>
          </p:cNvPr>
          <p:cNvSpPr txBox="1"/>
          <p:nvPr/>
        </p:nvSpPr>
        <p:spPr>
          <a:xfrm>
            <a:off x="3680944" y="4954310"/>
            <a:ext cx="548591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/>
              <a:t>Z</a:t>
            </a:r>
            <a:r>
              <a:rPr lang="en-US" sz="1900" baseline="-25000" dirty="0"/>
              <a:t>n</a:t>
            </a:r>
            <a:r>
              <a:rPr lang="en-US" sz="1900" dirty="0"/>
              <a:t>: N(0,1) for all n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65B037-1376-DB7F-A415-C05254D5F5EA}"/>
              </a:ext>
            </a:extLst>
          </p:cNvPr>
          <p:cNvSpPr txBox="1"/>
          <p:nvPr/>
        </p:nvSpPr>
        <p:spPr>
          <a:xfrm>
            <a:off x="3642361" y="5378491"/>
            <a:ext cx="305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n=1,2,…,N for sample size N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58CE306-B31A-D86C-B9C4-739890211719}"/>
              </a:ext>
            </a:extLst>
          </p:cNvPr>
          <p:cNvSpPr txBox="1"/>
          <p:nvPr/>
        </p:nvSpPr>
        <p:spPr>
          <a:xfrm>
            <a:off x="822303" y="3997859"/>
            <a:ext cx="297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With: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06BBAD9C-B895-C26C-9347-698C592CA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2832297"/>
            <a:ext cx="4911977" cy="329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78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901707-1A91-FA53-2A78-8FFC23A4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ANALYZIS for the solution process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71029A-E2D9-8E04-5F03-F25A4873A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The Fokker-Planck equation of the model is: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85F9809-330D-A688-6F27-34216AC3C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53" y="2821664"/>
            <a:ext cx="4798348" cy="64748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49C7A1F-8E3E-0C52-AF9A-B0E99AFC28F4}"/>
              </a:ext>
            </a:extLst>
          </p:cNvPr>
          <p:cNvSpPr txBox="1"/>
          <p:nvPr/>
        </p:nvSpPr>
        <p:spPr>
          <a:xfrm>
            <a:off x="1041722" y="3619188"/>
            <a:ext cx="5497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Where: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609E7FE-9A7C-C1B8-CD73-D137DBF5E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153" y="3962762"/>
            <a:ext cx="4681022" cy="64748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0FB50A51-F640-3D04-5467-3D853B74D735}"/>
              </a:ext>
            </a:extLst>
          </p:cNvPr>
          <p:cNvSpPr txBox="1"/>
          <p:nvPr/>
        </p:nvSpPr>
        <p:spPr>
          <a:xfrm>
            <a:off x="1041722" y="4838218"/>
            <a:ext cx="5324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So, the steady state probability density is: 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5C7CD18-448F-E9A1-6190-613665B98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948" y="5380860"/>
            <a:ext cx="4766227" cy="64748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12300760-04DF-35BB-5284-3197AF019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797" y="2123694"/>
            <a:ext cx="4944533" cy="394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57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AC0C68-FA21-9EDF-B70F-640428A20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 of the probability density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CF1021-D174-5505-0ED5-91A18534B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6550397" cy="37398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SDE has a noise induced phase transition at x=0:</a:t>
            </a:r>
          </a:p>
          <a:p>
            <a:pPr marL="0" indent="0">
              <a:buNone/>
            </a:pPr>
            <a:r>
              <a:rPr lang="en-US" dirty="0"/>
              <a:t>- If a &lt;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it-IT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/2 : x=0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</a:t>
            </a: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 point </a:t>
            </a:r>
            <a:r>
              <a:rPr lang="en-US" dirty="0"/>
              <a:t>a =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it-IT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/2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point: for </a:t>
            </a:r>
            <a:r>
              <a:rPr lang="en-US" dirty="0"/>
              <a:t>a &gt;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it-IT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/2,   x=0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becomes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unstable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 new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stationary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probability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appears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(NIT)</a:t>
            </a:r>
          </a:p>
          <a:p>
            <a:pPr>
              <a:buFontTx/>
              <a:buChar char="-"/>
            </a:pP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it-IT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/2  &lt; </a:t>
            </a:r>
            <a:r>
              <a:rPr lang="en-US" dirty="0"/>
              <a:t>a &lt;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σ: the steady state divergence at 0 </a:t>
            </a:r>
          </a:p>
          <a:p>
            <a:pPr>
              <a:buFontTx/>
              <a:buChar char="-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dirty="0"/>
              <a:t>a &gt;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it-IT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density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again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point </a:t>
            </a:r>
            <a:r>
              <a:rPr lang="en-US" dirty="0"/>
              <a:t>a =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it-IT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second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point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433EB00-96FA-FCFF-7BBA-48703DDE0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731" y="2048717"/>
            <a:ext cx="5237269" cy="38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9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BFDCD14-91D5-CCB0-5368-40A80B97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anchor="ctr">
            <a:normAutofit/>
          </a:bodyPr>
          <a:lstStyle/>
          <a:p>
            <a:r>
              <a:rPr lang="en-US" sz="3600"/>
              <a:t>FURTHER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6B177-DEE8-3BBC-4A07-0740559050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37" r="15842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E72E3B-6540-F92D-1733-ADAECD043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509" y="3359338"/>
            <a:ext cx="2843711" cy="28620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94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6A3D35-F277-BC0C-CE3B-71D21948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first passage time (MFPT)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022EA8-2143-CB2C-DB42-5290FCCF6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Mean First Passage Time (MFPT)</a:t>
            </a:r>
            <a:r>
              <a:rPr lang="en-US" dirty="0"/>
              <a:t> is the </a:t>
            </a:r>
            <a:r>
              <a:rPr lang="en-US" b="1" dirty="0"/>
              <a:t>expected time</a:t>
            </a:r>
            <a:r>
              <a:rPr lang="en-US" dirty="0"/>
              <a:t> it takes for the stochastic process 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 to reach a critical threshold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/>
              <a:t>for the first time, starting from an initial condition x</a:t>
            </a:r>
            <a:r>
              <a:rPr lang="en-US" baseline="-25000" dirty="0"/>
              <a:t>0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hitting time is: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EB7E83-A6FF-3D62-1958-4643571C4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064" y="3274300"/>
            <a:ext cx="3976239" cy="51056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70E8DBD-E2A1-5AD9-DCA7-C558ABD3B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826" y="4380724"/>
            <a:ext cx="4968373" cy="519084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650988B-0496-A8D4-91F9-8391444C0134}"/>
              </a:ext>
            </a:extLst>
          </p:cNvPr>
          <p:cNvSpPr txBox="1"/>
          <p:nvPr/>
        </p:nvSpPr>
        <p:spPr>
          <a:xfrm>
            <a:off x="700635" y="3784868"/>
            <a:ext cx="2499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Then: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E1BDDC-5A23-AEA1-5DF6-C18F480F2144}"/>
              </a:ext>
            </a:extLst>
          </p:cNvPr>
          <p:cNvSpPr txBox="1"/>
          <p:nvPr/>
        </p:nvSpPr>
        <p:spPr>
          <a:xfrm>
            <a:off x="700635" y="5134813"/>
            <a:ext cx="115356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It measure how long, on average, it takes for the system to reach extinction due to stochastic fluctuations: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Large: system resists noise 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Small: system collapse under stochastic fluctuations </a:t>
            </a:r>
          </a:p>
        </p:txBody>
      </p:sp>
    </p:spTree>
    <p:extLst>
      <p:ext uri="{BB962C8B-B14F-4D97-AF65-F5344CB8AC3E}">
        <p14:creationId xmlns:p14="http://schemas.microsoft.com/office/powerpoint/2010/main" val="386245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2C4C4B-CC90-9D9F-B573-454D9428C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approximation via quadrature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A01304-EA1F-B127-FF2F-9BA95AD1B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MFPT is computed using the Fokker-Planck equation and is approximated by: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28060D5-0A48-1261-6C5B-CFF2E8F15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701" y="2816405"/>
            <a:ext cx="4556941" cy="71318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F457C3C-835B-CBD8-C441-2252715271BD}"/>
              </a:ext>
            </a:extLst>
          </p:cNvPr>
          <p:cNvSpPr txBox="1"/>
          <p:nvPr/>
        </p:nvSpPr>
        <p:spPr>
          <a:xfrm>
            <a:off x="700635" y="4675720"/>
            <a:ext cx="239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7820C78-0869-9FD1-D7CA-21004AB17212}"/>
              </a:ext>
            </a:extLst>
          </p:cNvPr>
          <p:cNvSpPr txBox="1"/>
          <p:nvPr/>
        </p:nvSpPr>
        <p:spPr>
          <a:xfrm>
            <a:off x="700635" y="3711976"/>
            <a:ext cx="239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Using: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DD95184-1073-436C-6BE5-30B784CF7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078" y="3954109"/>
            <a:ext cx="2877190" cy="72161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1119260-E66F-563E-89E5-7F10B49CE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52" y="5469576"/>
            <a:ext cx="2683098" cy="49231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78E085DA-14EF-C548-E509-66D4DF852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951" y="5065172"/>
            <a:ext cx="1336629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10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648E7500-EE9E-D457-A749-D134B95DD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878" y="2284991"/>
            <a:ext cx="4768770" cy="3851234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3765026-7D05-D552-6041-5CB1DEED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2BABD8D-7C62-B514-20A3-1942D9569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1268" y="1991683"/>
                <a:ext cx="10691265" cy="37398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We compare the analytical MFPT with the Euler-Maruyama method for different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457200" indent="-457200">
                  <a:buAutoNum type="arabicPeriod"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Start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trajectory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dirty="0"/>
              </a:p>
              <a:p>
                <a:pPr marL="457200" indent="-457200">
                  <a:buAutoNum type="arabicPeriod"/>
                </a:pPr>
                <a:r>
                  <a:rPr lang="en-US" dirty="0"/>
                  <a:t>At each time step: </a:t>
                </a:r>
              </a:p>
              <a:p>
                <a:pPr marL="457200" indent="-457200">
                  <a:buAutoNum type="arabicPeriod"/>
                </a:pPr>
                <a:endParaRPr lang="en-US" dirty="0"/>
              </a:p>
              <a:p>
                <a:pPr marL="457200" indent="-457200">
                  <a:buAutoNum type="arabicPeriod"/>
                </a:pPr>
                <a:r>
                  <a:rPr lang="en-US" dirty="0"/>
                  <a:t>Stop when:</a:t>
                </a:r>
              </a:p>
              <a:p>
                <a:pPr marL="914400" lvl="1" indent="-457200"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1" indent="-457200">
                  <a:buAutoNum type="arabicPeriod"/>
                </a:pPr>
                <a:r>
                  <a:rPr lang="it-IT" b="0" dirty="0"/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𝑇𝑚𝑎𝑥</m:t>
                    </m:r>
                  </m:oMath>
                </a14:m>
                <a:r>
                  <a:rPr lang="en-US" dirty="0"/>
                  <a:t> (cut-off time)</a:t>
                </a:r>
              </a:p>
              <a:p>
                <a:pPr marL="457200" indent="-457200">
                  <a:buAutoNum type="arabicPeriod"/>
                </a:pPr>
                <a:r>
                  <a:rPr lang="en-US" dirty="0"/>
                  <a:t>Repeat for n=500 trajectories, compute average hitting time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2BABD8D-7C62-B514-20A3-1942D9569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268" y="1991683"/>
                <a:ext cx="10691265" cy="3739896"/>
              </a:xfrm>
              <a:blipFill>
                <a:blip r:embed="rId3"/>
                <a:stretch>
                  <a:fillRect l="-627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C025040D-B23F-95C6-3D29-33B92380B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232" y="3462470"/>
            <a:ext cx="5291130" cy="3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14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19A0108-CE64-0A9F-9B28-AAA30A345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483" y="2204322"/>
            <a:ext cx="5149517" cy="347429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BA9CEFE-4C00-66AF-259F-8D56F39A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89B219F-8DA1-D858-FBC0-0405009439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4888" y="1921050"/>
                <a:ext cx="6569891" cy="373989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see that the EM underestimates MFPT for small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  The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almost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never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reaches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threshold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ε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within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𝑇𝑚𝑎𝑥</m:t>
                    </m:r>
                  </m:oMath>
                </a14:m>
                <a:endParaRPr lang="it-I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Tx/>
                  <a:buChar char="-"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censored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trajectories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recorded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𝑇𝑚𝑎𝑥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The analytical MFPT obtained by quadrature doesn’t suffer</a:t>
                </a:r>
              </a:p>
              <a:p>
                <a:pPr marL="0" indent="0">
                  <a:buNone/>
                </a:pPr>
                <a:r>
                  <a:rPr lang="en-US" dirty="0"/>
                  <a:t> from this cut- off</a:t>
                </a:r>
              </a:p>
              <a:p>
                <a:pPr marL="0" indent="0">
                  <a:buNone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Solutions:</a:t>
                </a:r>
              </a:p>
              <a:p>
                <a:pPr marL="0" indent="0">
                  <a:buNone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Increase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𝑇𝑚𝑎𝑥</m:t>
                    </m:r>
                  </m:oMath>
                </a14:m>
                <a:endParaRPr lang="it-I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2. Use variance reduction (importance sampling)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89B219F-8DA1-D858-FBC0-040500943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4888" y="1921050"/>
                <a:ext cx="6569891" cy="3739896"/>
              </a:xfrm>
              <a:blipFill>
                <a:blip r:embed="rId3"/>
                <a:stretch>
                  <a:fillRect l="-1020" t="-977" r="-557" b="-2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243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A82D49-C128-31E3-F6D6-D3B1EE7343A7}"/>
              </a:ext>
            </a:extLst>
          </p:cNvPr>
          <p:cNvSpPr txBox="1"/>
          <p:nvPr/>
        </p:nvSpPr>
        <p:spPr>
          <a:xfrm>
            <a:off x="2540001" y="2971801"/>
            <a:ext cx="77131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0150221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Calisto MT</vt:lpstr>
      <vt:lpstr>Cambria Math</vt:lpstr>
      <vt:lpstr>Univers Condensed</vt:lpstr>
      <vt:lpstr>ChronicleVTI</vt:lpstr>
      <vt:lpstr>SDE models for tumor population growth </vt:lpstr>
      <vt:lpstr>The general model</vt:lpstr>
      <vt:lpstr>The random fluctuations </vt:lpstr>
      <vt:lpstr>The solution of the sde</vt:lpstr>
      <vt:lpstr>ANALYZIS for the solution process</vt:lpstr>
      <vt:lpstr>Behavior of the probability density</vt:lpstr>
      <vt:lpstr>FURTHER ANALYSIS</vt:lpstr>
      <vt:lpstr>Mean first passage time (MFPT)</vt:lpstr>
      <vt:lpstr>Analytical approximation via quadrature</vt:lpstr>
      <vt:lpstr>SIMULATION</vt:lpstr>
      <vt:lpstr>explanation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Rita Ortese</dc:creator>
  <cp:lastModifiedBy>Rita Ortese</cp:lastModifiedBy>
  <cp:revision>2</cp:revision>
  <dcterms:created xsi:type="dcterms:W3CDTF">2025-07-18T18:45:47Z</dcterms:created>
  <dcterms:modified xsi:type="dcterms:W3CDTF">2025-12-23T23:13:22Z</dcterms:modified>
</cp:coreProperties>
</file>